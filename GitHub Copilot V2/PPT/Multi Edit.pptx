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22" r:id="rId5"/>
  </p:sldMasterIdLst>
  <p:notesMasterIdLst>
    <p:notesMasterId r:id="rId10"/>
  </p:notesMasterIdLst>
  <p:sldIdLst>
    <p:sldId id="257" r:id="rId6"/>
    <p:sldId id="2147482924" r:id="rId7"/>
    <p:sldId id="2147482830" r:id="rId8"/>
    <p:sldId id="21474829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A1D8"/>
    <a:srgbClr val="12ABDB"/>
    <a:srgbClr val="1984AA"/>
    <a:srgbClr val="0070AD"/>
    <a:srgbClr val="BCE7FF"/>
    <a:srgbClr val="0D0E13"/>
    <a:srgbClr val="383B4E"/>
    <a:srgbClr val="298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6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9B76A-4F7D-4E36-83F0-A884D71F268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9D03-EA1B-41EE-9580-4BF7FC9B9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  <a:latin typeface="-apple-system"/>
              </a:rPr>
              <a:t>Welcome to this training session of prompt detailed </a:t>
            </a:r>
            <a:r>
              <a:rPr lang="en-US"/>
              <a:t>"Here, we’ll dive into the detailed features of prompt X, illustrated with an e-commerce chatbot example."</a:t>
            </a:r>
          </a:p>
          <a:p>
            <a:endParaRPr lang="en-US"/>
          </a:p>
          <a:p>
            <a:r>
              <a:rPr lang="en-US">
                <a:effectLst/>
                <a:latin typeface="-apple-system"/>
              </a:rPr>
              <a:t> 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71A529-52D4-4CBB-B961-704D966D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08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548F-816D-241E-5C0D-AFE2C84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B8802-7C59-0CB8-0159-F7146473C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384C2-9860-726E-7CC8-012AC2E36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we’ll explore the concept of using </a:t>
            </a:r>
            <a:r>
              <a:rPr lang="en-US" b="1"/>
              <a:t>Multiple Data Sources</a:t>
            </a:r>
            <a:r>
              <a:rPr lang="en-US"/>
              <a:t> in Retrieval-Augmented Generation (RAG), linked to the e-commerce customer support chat application.</a:t>
            </a:r>
          </a:p>
          <a:p>
            <a:endParaRPr lang="en-US"/>
          </a:p>
          <a:p>
            <a:r>
              <a:rPr lang="en-US" b="1"/>
              <a:t>Key Concepts</a:t>
            </a:r>
          </a:p>
          <a:p>
            <a:endParaRPr lang="en-US" b="1"/>
          </a:p>
          <a:p>
            <a:r>
              <a:rPr lang="en-US" b="1"/>
              <a:t>1. Website Integration</a:t>
            </a:r>
            <a:br>
              <a:rPr lang="en-US"/>
            </a:br>
            <a:r>
              <a:rPr lang="en-US"/>
              <a:t>"This feature enables querying unstructured data directly from websites, such as product pages or FAQs.“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UnstructuredURLLoader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extracts website content for embedding and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loaded data undergoes the RAG pipeline to generate contextually relevant answers.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If a customer asks about shipping policies, the agent retrieves content directly from the e-commerce website.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2. Confluence Integration</a:t>
            </a:r>
            <a:br>
              <a:rPr lang="en-US"/>
            </a:br>
            <a:r>
              <a:rPr lang="en-US"/>
              <a:t>"Integrating Confluence allows querying internal knowledge spaces, such as team manuals or product support documents.“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ConfluenceLoader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fetches data securely after user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Supports querying pages, blog posts, and other content types.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support agent retrieves troubleshooting guides for a product directly from the company’s Confluence space to assist a customer.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Benefits</a:t>
            </a:r>
          </a:p>
          <a:p>
            <a:pPr>
              <a:buFont typeface="+mj-lt"/>
              <a:buAutoNum type="arabicPeriod"/>
            </a:pPr>
            <a:r>
              <a:rPr lang="en-US" b="1"/>
              <a:t>Expanded Knowledge Access</a:t>
            </a:r>
            <a:r>
              <a:rPr lang="en-US"/>
              <a:t>: Retrieves data from multiple sources like websites and internal documents.</a:t>
            </a:r>
          </a:p>
          <a:p>
            <a:pPr>
              <a:buFont typeface="+mj-lt"/>
              <a:buAutoNum type="arabicPeriod"/>
            </a:pPr>
            <a:r>
              <a:rPr lang="en-US" b="1"/>
              <a:t>Contextual Relevance</a:t>
            </a:r>
            <a:r>
              <a:rPr lang="en-US"/>
              <a:t>: Combines external and internal knowledge for precise responses.</a:t>
            </a:r>
          </a:p>
          <a:p>
            <a:pPr>
              <a:buFont typeface="+mj-lt"/>
              <a:buAutoNum type="arabicPeriod"/>
            </a:pPr>
            <a:r>
              <a:rPr lang="en-US" b="1"/>
              <a:t>Improved Support Efficiency</a:t>
            </a:r>
            <a:r>
              <a:rPr lang="en-US"/>
              <a:t>: Speeds up resolutions by accessing comprehensive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8D91C-0F50-8ED1-1D48-729814656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51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Admin Dashboard, a powerful tool for monitoring and managing the performance and resource usage within the system. It provides valuable insights into model usage, user activity, and model performance. </a:t>
            </a:r>
          </a:p>
          <a:p>
            <a:r>
              <a:rPr lang="en-IN" b="1"/>
              <a:t>Key Sections:</a:t>
            </a:r>
          </a:p>
          <a:p>
            <a:r>
              <a:rPr lang="en-IN" b="1"/>
              <a:t>1)Statistics Overview</a:t>
            </a:r>
            <a:r>
              <a:rPr lang="en-IN"/>
              <a:t> section is where we get a high-level view of key metrics. Here, we can see the </a:t>
            </a:r>
            <a:r>
              <a:rPr lang="en-IN" b="1"/>
              <a:t>Credits Used per Model</a:t>
            </a:r>
            <a:r>
              <a:rPr lang="en-IN"/>
              <a:t>, which helps in understanding how much resource each model is consuming. This helps in evaluating model efficiency and cost-effectiveness, allowing admins to make informed decisions.</a:t>
            </a:r>
          </a:p>
          <a:p>
            <a:r>
              <a:rPr lang="en-IN" b="1"/>
              <a:t>2)User Activity</a:t>
            </a:r>
            <a:r>
              <a:rPr lang="en-IN"/>
              <a:t> This part is divided into two key components:</a:t>
            </a:r>
          </a:p>
          <a:p>
            <a:pPr>
              <a:buFont typeface="+mj-lt"/>
              <a:buNone/>
            </a:pPr>
            <a:r>
              <a:rPr lang="en-IN" b="1"/>
              <a:t>a)Top 10 Active Users</a:t>
            </a:r>
            <a:r>
              <a:rPr lang="en-IN"/>
              <a:t>: This list shows the top 10 users based on their credit usage, allowing admins to easily identify the most active users.</a:t>
            </a:r>
          </a:p>
          <a:p>
            <a:pPr>
              <a:buFont typeface="+mj-lt"/>
              <a:buNone/>
            </a:pPr>
            <a:r>
              <a:rPr lang="en-IN" b="1"/>
              <a:t>b)User-wise Credit Usage</a:t>
            </a:r>
            <a:r>
              <a:rPr lang="en-IN"/>
              <a:t>: Here, we get a detailed breakdown of credit usage by individual users, helping admins identify heavy users and allocate resources accordingly</a:t>
            </a:r>
          </a:p>
          <a:p>
            <a:pPr>
              <a:buFont typeface="+mj-lt"/>
              <a:buNone/>
            </a:pPr>
            <a:r>
              <a:rPr lang="en-IN" b="1"/>
              <a:t>3)Model Performance</a:t>
            </a:r>
            <a:r>
              <a:rPr lang="en-IN"/>
              <a:t> section, we track the </a:t>
            </a:r>
            <a:r>
              <a:rPr lang="en-IN" b="1"/>
              <a:t>Credits Used per Model per Day</a:t>
            </a:r>
            <a:r>
              <a:rPr lang="en-IN"/>
              <a:t>. This is represented in a bar graph, offering a visual representation of daily credit consumption across different models. It helps identify usage trends, so admins can predict future credit requirements and optimize model usage.</a:t>
            </a:r>
          </a:p>
          <a:p>
            <a:pPr>
              <a:buFont typeface="+mj-lt"/>
              <a:buNone/>
            </a:pPr>
            <a:endParaRPr lang="en-IN"/>
          </a:p>
          <a:p>
            <a:endParaRPr lang="en-IN"/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36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D338-D0E4-AB4E-25D4-68F9590B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B2102-1735-77E8-8F28-C2687C2B1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E83DD-4A34-9553-FB37-6294E35C9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Admin Dashboard, a powerful tool for monitoring and managing the performance and resource usage within the system. It provides valuable insights into model usage, user activity, and model performance. </a:t>
            </a:r>
          </a:p>
          <a:p>
            <a:r>
              <a:rPr lang="en-IN" b="1"/>
              <a:t>Key Sections:</a:t>
            </a:r>
          </a:p>
          <a:p>
            <a:r>
              <a:rPr lang="en-IN" b="1"/>
              <a:t>1)Statistics Overview</a:t>
            </a:r>
            <a:r>
              <a:rPr lang="en-IN"/>
              <a:t> section is where we get a high-level view of key metrics. Here, we can see the </a:t>
            </a:r>
            <a:r>
              <a:rPr lang="en-IN" b="1"/>
              <a:t>Credits Used per Model</a:t>
            </a:r>
            <a:r>
              <a:rPr lang="en-IN"/>
              <a:t>, which helps in understanding how much resource each model is consuming. This helps in evaluating model efficiency and cost-effectiveness, allowing admins to make informed decisions.</a:t>
            </a:r>
          </a:p>
          <a:p>
            <a:r>
              <a:rPr lang="en-IN" b="1"/>
              <a:t>2)User Activity</a:t>
            </a:r>
            <a:r>
              <a:rPr lang="en-IN"/>
              <a:t> This part is divided into two key components:</a:t>
            </a:r>
          </a:p>
          <a:p>
            <a:pPr>
              <a:buFont typeface="+mj-lt"/>
              <a:buNone/>
            </a:pPr>
            <a:r>
              <a:rPr lang="en-IN" b="1"/>
              <a:t>a)Top 10 Active Users</a:t>
            </a:r>
            <a:r>
              <a:rPr lang="en-IN"/>
              <a:t>: This list shows the top 10 users based on their credit usage, allowing admins to easily identify the most active users.</a:t>
            </a:r>
          </a:p>
          <a:p>
            <a:pPr>
              <a:buFont typeface="+mj-lt"/>
              <a:buNone/>
            </a:pPr>
            <a:r>
              <a:rPr lang="en-IN" b="1"/>
              <a:t>b)User-wise Credit Usage</a:t>
            </a:r>
            <a:r>
              <a:rPr lang="en-IN"/>
              <a:t>: Here, we get a detailed breakdown of credit usage by individual users, helping admins identify heavy users and allocate resources accordingly</a:t>
            </a:r>
          </a:p>
          <a:p>
            <a:pPr>
              <a:buFont typeface="+mj-lt"/>
              <a:buNone/>
            </a:pPr>
            <a:r>
              <a:rPr lang="en-IN" b="1"/>
              <a:t>3)Model Performance</a:t>
            </a:r>
            <a:r>
              <a:rPr lang="en-IN"/>
              <a:t> section, we track the </a:t>
            </a:r>
            <a:r>
              <a:rPr lang="en-IN" b="1"/>
              <a:t>Credits Used per Model per Day</a:t>
            </a:r>
            <a:r>
              <a:rPr lang="en-IN"/>
              <a:t>. This is represented in a bar graph, offering a visual representation of daily credit consumption across different models. It helps identify usage trends, so admins can predict future credit requirements and optimize model usage.</a:t>
            </a:r>
          </a:p>
          <a:p>
            <a:pPr>
              <a:buFont typeface="+mj-lt"/>
              <a:buNone/>
            </a:pPr>
            <a:endParaRPr lang="en-IN"/>
          </a:p>
          <a:p>
            <a:endParaRPr lang="en-IN"/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3EA7-100E-6087-6A53-E7147C0C6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55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74913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3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65034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6510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 slid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40526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6635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e slid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3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84450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94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1358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3919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9415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2877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296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12868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65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42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377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94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64794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4411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8679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6059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600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395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3915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1957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339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90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0203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246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8140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11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0521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2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698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526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222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634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70595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013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54231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74708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33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40140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6F7D79-F798-4363-8E9B-6BAAC637D4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Insert Picture and send to back</a:t>
            </a:r>
          </a:p>
          <a:p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D5C5CA-E0F9-4194-9FD7-26150AB2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A39C93-A915-45D6-953A-AAC473CA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2847127"/>
            <a:ext cx="11386134" cy="1661993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2EC1376B-6D90-49FF-A3E6-C79ABC9F4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5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3">
            <a:extLst>
              <a:ext uri="{FF2B5EF4-FFF2-40B4-BE49-F238E27FC236}">
                <a16:creationId xmlns:a16="http://schemas.microsoft.com/office/drawing/2014/main" id="{17C88DCA-1687-9D3F-510F-DB7805134421}"/>
              </a:ext>
            </a:extLst>
          </p:cNvPr>
          <p:cNvSpPr/>
          <p:nvPr userDrawn="1"/>
        </p:nvSpPr>
        <p:spPr>
          <a:xfrm>
            <a:off x="11791753" y="6517658"/>
            <a:ext cx="229263" cy="215444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/>
          <a:p>
            <a:pPr algn="l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E59FAA2-8181-BDD8-824F-A01749096477}"/>
              </a:ext>
            </a:extLst>
          </p:cNvPr>
          <p:cNvSpPr/>
          <p:nvPr userDrawn="1"/>
        </p:nvSpPr>
        <p:spPr>
          <a:xfrm>
            <a:off x="9229693" y="6573738"/>
            <a:ext cx="2529539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2024. All rights reserved |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FF068-636F-FDE9-F99D-FF2C8F01D6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53998" y="246534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4BAD855-4C24-DA81-1801-ACD41EA8DA9E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501C08-6771-1D76-A8BF-DD49B8B44D96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C51FB6-DA41-76CA-151C-129A49D0FF7F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7ADD8B-B135-F93F-C7B3-AD675266769C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FD4D15-BBB5-B7B0-EDB9-987A0FD642E6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4416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7980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4785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9363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9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1956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74490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59808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1201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56916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10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7629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39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363207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3666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3134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82759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33115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44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9910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839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957653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639207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0806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4909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2178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7138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7693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5744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2111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127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85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9847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37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337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3351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1211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96243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546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29952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628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78679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263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5938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357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99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62463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-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4A965C7A-B63C-476C-A4A7-F1DA082B5A6A}"/>
              </a:ext>
            </a:extLst>
          </p:cNvPr>
          <p:cNvGrpSpPr>
            <a:grpSpLocks/>
          </p:cNvGrpSpPr>
          <p:nvPr userDrawn="1"/>
        </p:nvGrpSpPr>
        <p:grpSpPr>
          <a:xfrm>
            <a:off x="11562163" y="207582"/>
            <a:ext cx="419436" cy="388988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3" name="Freeform 320">
              <a:extLst>
                <a:ext uri="{FF2B5EF4-FFF2-40B4-BE49-F238E27FC236}">
                  <a16:creationId xmlns:a16="http://schemas.microsoft.com/office/drawing/2014/main" id="{08780755-E109-45E3-9564-937AFC868C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321">
              <a:extLst>
                <a:ext uri="{FF2B5EF4-FFF2-40B4-BE49-F238E27FC236}">
                  <a16:creationId xmlns:a16="http://schemas.microsoft.com/office/drawing/2014/main" id="{0B189194-351B-46D6-A408-2F6B6B57F0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Slide number">
            <a:extLst>
              <a:ext uri="{FF2B5EF4-FFF2-40B4-BE49-F238E27FC236}">
                <a16:creationId xmlns:a16="http://schemas.microsoft.com/office/drawing/2014/main" id="{CA4932B0-5EDB-11C1-C0EA-1A270DFCC493}"/>
              </a:ext>
            </a:extLst>
          </p:cNvPr>
          <p:cNvSpPr/>
          <p:nvPr userDrawn="1"/>
        </p:nvSpPr>
        <p:spPr>
          <a:xfrm>
            <a:off x="11744128" y="6541977"/>
            <a:ext cx="229263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700" smtClean="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700">
              <a:solidFill>
                <a:srgbClr val="A6A6A6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Footer Copyright">
            <a:extLst>
              <a:ext uri="{FF2B5EF4-FFF2-40B4-BE49-F238E27FC236}">
                <a16:creationId xmlns:a16="http://schemas.microsoft.com/office/drawing/2014/main" id="{D35ED927-78C1-3D65-791E-7A43547DAE40}"/>
              </a:ext>
            </a:extLst>
          </p:cNvPr>
          <p:cNvSpPr/>
          <p:nvPr userDrawn="1"/>
        </p:nvSpPr>
        <p:spPr>
          <a:xfrm>
            <a:off x="7257892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 Company Confidential © Capgemini 2024. All rights reserved |</a:t>
            </a:r>
          </a:p>
        </p:txBody>
      </p:sp>
      <p:sp>
        <p:nvSpPr>
          <p:cNvPr id="7" name="Footer Copyright">
            <a:extLst>
              <a:ext uri="{FF2B5EF4-FFF2-40B4-BE49-F238E27FC236}">
                <a16:creationId xmlns:a16="http://schemas.microsoft.com/office/drawing/2014/main" id="{1B3E4988-752C-EBE0-809A-6C52F4E634A0}"/>
              </a:ext>
            </a:extLst>
          </p:cNvPr>
          <p:cNvSpPr/>
          <p:nvPr userDrawn="1"/>
        </p:nvSpPr>
        <p:spPr>
          <a:xfrm>
            <a:off x="401946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Generative AI for Software Engineering | Measurement protocol</a:t>
            </a:r>
          </a:p>
        </p:txBody>
      </p:sp>
    </p:spTree>
    <p:extLst>
      <p:ext uri="{BB962C8B-B14F-4D97-AF65-F5344CB8AC3E}">
        <p14:creationId xmlns:p14="http://schemas.microsoft.com/office/powerpoint/2010/main" val="91234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Presentation Title  |  Author  |  Date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7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9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erson's eye">
            <a:extLst>
              <a:ext uri="{FF2B5EF4-FFF2-40B4-BE49-F238E27FC236}">
                <a16:creationId xmlns:a16="http://schemas.microsoft.com/office/drawing/2014/main" id="{D666B677-1F70-A9DA-76C5-6EEB94CBCA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3" b="118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B76C8D-47BB-8EF6-E421-F03820FCA273}"/>
              </a:ext>
            </a:extLst>
          </p:cNvPr>
          <p:cNvSpPr/>
          <p:nvPr/>
        </p:nvSpPr>
        <p:spPr>
          <a:xfrm>
            <a:off x="0" y="9832"/>
            <a:ext cx="12192001" cy="6858000"/>
          </a:xfrm>
          <a:prstGeom prst="rect">
            <a:avLst/>
          </a:prstGeom>
          <a:gradFill>
            <a:gsLst>
              <a:gs pos="33000">
                <a:srgbClr val="121319">
                  <a:alpha val="0"/>
                </a:srgbClr>
              </a:gs>
              <a:gs pos="0">
                <a:schemeClr val="tx1">
                  <a:alpha val="29000"/>
                </a:schemeClr>
              </a:gs>
              <a:gs pos="96000">
                <a:srgbClr val="272936">
                  <a:alpha val="6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9EF106-62EE-2BA8-7B5B-C03F8F0B43DE}"/>
              </a:ext>
            </a:extLst>
          </p:cNvPr>
          <p:cNvGrpSpPr>
            <a:grpSpLocks noChangeAspect="1"/>
          </p:cNvGrpSpPr>
          <p:nvPr/>
        </p:nvGrpSpPr>
        <p:grpSpPr>
          <a:xfrm>
            <a:off x="9422553" y="611981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5AB8AE9-73A4-4BA6-50FA-AD8E456DCDB5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D35C33-A153-3E36-0667-4BBA4DC6778A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ABA1E-505C-F833-A58D-3263A17FABB7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D89E3B-F0F8-066B-3FEC-5F7EC08933E3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0A888D-AF01-7CE2-1D48-3895E5BE7B10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F918314-209B-C682-4536-929BA12460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28" name="Picture 27" descr="A picture containing shape&#10;&#10;Description automatically generated">
            <a:extLst>
              <a:ext uri="{FF2B5EF4-FFF2-40B4-BE49-F238E27FC236}">
                <a16:creationId xmlns:a16="http://schemas.microsoft.com/office/drawing/2014/main" id="{DE949792-8003-650D-8182-7561F7D98C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40" name="Picture 39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29958377-86EE-22F4-52E1-B4B808035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E17076-991C-431A-9B77-E8363D54BDC9}"/>
              </a:ext>
            </a:extLst>
          </p:cNvPr>
          <p:cNvSpPr txBox="1">
            <a:spLocks/>
          </p:cNvSpPr>
          <p:nvPr/>
        </p:nvSpPr>
        <p:spPr>
          <a:xfrm>
            <a:off x="711040" y="4191357"/>
            <a:ext cx="11386134" cy="1218795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0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US" sz="4400" b="1" dirty="0">
                <a:latin typeface="Segoe Sans"/>
              </a:rPr>
              <a:t>Copilot</a:t>
            </a:r>
            <a:r>
              <a:rPr lang="en-IN" sz="4400" b="1" i="0" dirty="0">
                <a:effectLst/>
                <a:latin typeface="Segoe Sans"/>
              </a:rPr>
              <a:t> Edits (Multi-file Editing</a:t>
            </a:r>
            <a:r>
              <a:rPr lang="en-US" sz="4400" i="0" dirty="0">
                <a:effectLst/>
                <a:latin typeface="Segoe Sans"/>
              </a:rPr>
              <a:t>)</a:t>
            </a:r>
            <a:r>
              <a:rPr lang="en-US" sz="4400" b="1" dirty="0"/>
              <a:t>  </a:t>
            </a:r>
          </a:p>
          <a:p>
            <a:pPr algn="r"/>
            <a:r>
              <a:rPr lang="en-US" sz="4400" dirty="0"/>
              <a:t>using</a:t>
            </a:r>
            <a:r>
              <a:rPr lang="en-US" sz="4400" b="1" dirty="0"/>
              <a:t> GITHUB COPILOT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07497265-9E87-C89B-0E67-8A9EEF9327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1" y="5188327"/>
            <a:ext cx="2968307" cy="16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5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C94E-FCF8-05E5-E13B-2EF1EA97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04F03BD9-51EF-4143-9656-774072A8390B}"/>
              </a:ext>
            </a:extLst>
          </p:cNvPr>
          <p:cNvSpPr txBox="1">
            <a:spLocks/>
          </p:cNvSpPr>
          <p:nvPr/>
        </p:nvSpPr>
        <p:spPr>
          <a:xfrm>
            <a:off x="561870" y="-1805152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7846C1C5-B896-9A83-4E11-F8BD0E4CFF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43" y="101457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1652D-B33D-70B5-E363-ADFF048CF466}"/>
              </a:ext>
            </a:extLst>
          </p:cNvPr>
          <p:cNvSpPr txBox="1"/>
          <p:nvPr/>
        </p:nvSpPr>
        <p:spPr>
          <a:xfrm>
            <a:off x="368408" y="157884"/>
            <a:ext cx="5442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2ABDB"/>
                </a:solidFill>
                <a:latin typeface="Segoe Sans"/>
              </a:rPr>
              <a:t>Copilot</a:t>
            </a:r>
            <a:r>
              <a:rPr lang="en-IN" sz="2400" b="1" i="0" dirty="0">
                <a:solidFill>
                  <a:srgbClr val="1AA1D8"/>
                </a:solidFill>
                <a:effectLst/>
                <a:latin typeface="Segoe Sans"/>
              </a:rPr>
              <a:t> Edits (Multi-file Editing)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23062-759A-A9D5-A5F9-B8D55B932E0B}"/>
              </a:ext>
            </a:extLst>
          </p:cNvPr>
          <p:cNvSpPr txBox="1"/>
          <p:nvPr/>
        </p:nvSpPr>
        <p:spPr>
          <a:xfrm>
            <a:off x="368408" y="932581"/>
            <a:ext cx="1114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effectLst/>
                <a:latin typeface="Segoe Sans"/>
              </a:rPr>
              <a:t>GitHub Copilot Edits (also known as Multi-file Editing) is a feature that enables developers to make AI-powered changes across multiple files using a single natural language prompt. This is part of GitHub Copilot Chat and Workspace capabilities.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62C50F-AAC5-B535-3359-74F5CAE2F654}"/>
              </a:ext>
            </a:extLst>
          </p:cNvPr>
          <p:cNvSpPr/>
          <p:nvPr/>
        </p:nvSpPr>
        <p:spPr>
          <a:xfrm>
            <a:off x="323904" y="1900453"/>
            <a:ext cx="11544192" cy="2533895"/>
          </a:xfrm>
          <a:prstGeom prst="roundRect">
            <a:avLst>
              <a:gd name="adj" fmla="val 7706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AC1C9-4228-C5CC-644E-ACBB2899A87A}"/>
              </a:ext>
            </a:extLst>
          </p:cNvPr>
          <p:cNvSpPr txBox="1"/>
          <p:nvPr/>
        </p:nvSpPr>
        <p:spPr>
          <a:xfrm>
            <a:off x="323904" y="1913358"/>
            <a:ext cx="11544192" cy="715089"/>
          </a:xfrm>
          <a:prstGeom prst="roundRect">
            <a:avLst/>
          </a:prstGeom>
          <a:solidFill>
            <a:srgbClr val="0070AD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Segoe Sans"/>
              </a:rPr>
              <a:t>Why Use </a:t>
            </a:r>
            <a:r>
              <a:rPr lang="en-US" b="1" dirty="0">
                <a:solidFill>
                  <a:schemeClr val="bg1"/>
                </a:solidFill>
                <a:latin typeface="Segoe Sans"/>
              </a:rPr>
              <a:t>Copilot </a:t>
            </a:r>
            <a:r>
              <a:rPr lang="en-IN" sz="1800" b="1" i="0" dirty="0">
                <a:solidFill>
                  <a:schemeClr val="bg1"/>
                </a:solidFill>
                <a:effectLst/>
                <a:latin typeface="Segoe Sans"/>
              </a:rPr>
              <a:t>Edits (Multi-file Editing</a:t>
            </a:r>
            <a:r>
              <a:rPr lang="en-US" sz="1800" b="1" dirty="0">
                <a:solidFill>
                  <a:schemeClr val="bg1"/>
                </a:solidFill>
                <a:latin typeface="Segoe Sans"/>
              </a:rPr>
              <a:t>)</a:t>
            </a:r>
            <a:endParaRPr lang="en-US" b="1" i="0" dirty="0">
              <a:solidFill>
                <a:schemeClr val="bg1"/>
              </a:solidFill>
              <a:effectLst/>
              <a:latin typeface="Segoe Sans"/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E9077-BB8D-879A-7558-BC0BF73D1931}"/>
              </a:ext>
            </a:extLst>
          </p:cNvPr>
          <p:cNvSpPr txBox="1"/>
          <p:nvPr/>
        </p:nvSpPr>
        <p:spPr>
          <a:xfrm>
            <a:off x="561870" y="2641352"/>
            <a:ext cx="111221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i="0" dirty="0">
                <a:solidFill>
                  <a:srgbClr val="12ABDB"/>
                </a:solidFill>
                <a:effectLst/>
                <a:latin typeface="Segoe Sans"/>
              </a:rPr>
              <a:t>Save Time on Repetitive Changes</a:t>
            </a:r>
            <a:r>
              <a:rPr lang="en-IN" sz="1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: 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Make consistent edits across multiple files with a single prompt, No need to manually open and update each file</a:t>
            </a:r>
            <a:r>
              <a:rPr lang="en-US" sz="1400" i="1" dirty="0">
                <a:solidFill>
                  <a:schemeClr val="bg1"/>
                </a:solidFill>
              </a:rPr>
              <a:t>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 dirty="0">
                <a:solidFill>
                  <a:srgbClr val="1AA1D8"/>
                </a:solidFill>
                <a:effectLst/>
                <a:latin typeface="Segoe Sans"/>
              </a:rPr>
              <a:t>Ensure Code Consistency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Apply uniform updates (like renaming across your entire codebase, reducing the chance of errors</a:t>
            </a:r>
            <a:r>
              <a:rPr lang="en-US" sz="1400" b="0" i="0" dirty="0">
                <a:solidFill>
                  <a:srgbClr val="424242"/>
                </a:solidFill>
                <a:effectLst/>
                <a:latin typeface="Segoe Sans"/>
              </a:rPr>
              <a:t>.</a:t>
            </a:r>
          </a:p>
          <a:p>
            <a:endParaRPr lang="en-US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 dirty="0">
                <a:solidFill>
                  <a:srgbClr val="1AA1D8"/>
                </a:solidFill>
                <a:effectLst/>
                <a:latin typeface="Segoe Sans"/>
              </a:rPr>
              <a:t>Boost</a:t>
            </a:r>
            <a:r>
              <a:rPr lang="en-IN" sz="1400" b="0" i="0" dirty="0">
                <a:solidFill>
                  <a:srgbClr val="424242"/>
                </a:solidFill>
                <a:effectLst/>
                <a:latin typeface="Segoe Sans"/>
              </a:rPr>
              <a:t> </a:t>
            </a:r>
            <a:r>
              <a:rPr lang="en-IN" sz="1400" b="1" i="0" dirty="0">
                <a:solidFill>
                  <a:srgbClr val="1AA1D8"/>
                </a:solidFill>
                <a:effectLst/>
                <a:latin typeface="Segoe Sans"/>
              </a:rPr>
              <a:t>Productivity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Focus on solving problems while Copilot handles the mechanical edits, helping you stay in flow and work faster</a:t>
            </a:r>
            <a:r>
              <a:rPr lang="en-US" sz="1400" b="0" i="0" dirty="0">
                <a:solidFill>
                  <a:srgbClr val="424242"/>
                </a:solidFill>
                <a:effectLst/>
                <a:latin typeface="Segoe Sans"/>
              </a:rPr>
              <a:t>.</a:t>
            </a:r>
            <a:r>
              <a:rPr lang="en-US" sz="1400" i="1" dirty="0">
                <a:solidFill>
                  <a:schemeClr val="bg1"/>
                </a:solidFill>
              </a:rPr>
              <a:t>.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75B602-13AD-9C7A-FA3D-A77635AA5E1E}"/>
              </a:ext>
            </a:extLst>
          </p:cNvPr>
          <p:cNvGrpSpPr/>
          <p:nvPr/>
        </p:nvGrpSpPr>
        <p:grpSpPr>
          <a:xfrm>
            <a:off x="372839" y="4641879"/>
            <a:ext cx="11459132" cy="1822826"/>
            <a:chOff x="372839" y="2321181"/>
            <a:chExt cx="11459132" cy="14355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D08E20E-F989-953D-B5CA-E9A9157BBBF3}"/>
                </a:ext>
              </a:extLst>
            </p:cNvPr>
            <p:cNvGrpSpPr/>
            <p:nvPr/>
          </p:nvGrpSpPr>
          <p:grpSpPr>
            <a:xfrm>
              <a:off x="457200" y="2321181"/>
              <a:ext cx="11316725" cy="1306626"/>
              <a:chOff x="284989" y="5014462"/>
              <a:chExt cx="11659633" cy="148706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87D489C-F781-E42E-EDBF-9DEC92415776}"/>
                  </a:ext>
                </a:extLst>
              </p:cNvPr>
              <p:cNvGrpSpPr/>
              <p:nvPr/>
            </p:nvGrpSpPr>
            <p:grpSpPr>
              <a:xfrm>
                <a:off x="444608" y="5534712"/>
                <a:ext cx="11427437" cy="966811"/>
                <a:chOff x="444608" y="5240845"/>
                <a:chExt cx="11427437" cy="1227596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9AA789AB-DE76-6CFE-6FB1-35FD6599B391}"/>
                    </a:ext>
                  </a:extLst>
                </p:cNvPr>
                <p:cNvSpPr/>
                <p:nvPr/>
              </p:nvSpPr>
              <p:spPr>
                <a:xfrm>
                  <a:off x="444608" y="5379907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dirty="0">
                      <a:solidFill>
                        <a:schemeClr val="bg1"/>
                      </a:solidFill>
                      <a:latin typeface="Ubuntu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schemeClr val="bg1"/>
                    </a:solidFill>
                    <a:latin typeface="Ubuntu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Rename a function or variable used in multiple files</a:t>
                  </a:r>
                  <a:r>
                    <a:rPr lang="en-US" sz="1200" dirty="0">
                      <a:solidFill>
                        <a:schemeClr val="bg1"/>
                      </a:solidFill>
                      <a:latin typeface="Ubuntu"/>
                    </a:rPr>
                    <a:t>.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2A7F40B-96B3-5B53-E75E-45A78E04B5F4}"/>
                    </a:ext>
                  </a:extLst>
                </p:cNvPr>
                <p:cNvSpPr txBox="1"/>
                <p:nvPr/>
              </p:nvSpPr>
              <p:spPr>
                <a:xfrm>
                  <a:off x="594086" y="5240845"/>
                  <a:ext cx="3228194" cy="808123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endParaRPr lang="en-IN" sz="1400" b="1" i="0" dirty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algn="ctr">
                    <a:spcBef>
                      <a:spcPct val="0"/>
                    </a:spcBef>
                  </a:pPr>
                  <a:r>
                    <a:rPr lang="en-IN" sz="1400" b="1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Refactoring Across Files:</a:t>
                  </a:r>
                </a:p>
                <a:p>
                  <a:pPr algn="ctr">
                    <a:spcBef>
                      <a:spcPct val="0"/>
                    </a:spcBef>
                  </a:pPr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C50423AF-560A-EB0A-6720-7AD633447AF1}"/>
                    </a:ext>
                  </a:extLst>
                </p:cNvPr>
                <p:cNvSpPr/>
                <p:nvPr/>
              </p:nvSpPr>
              <p:spPr>
                <a:xfrm>
                  <a:off x="4394858" y="5379907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b="0" i="0" dirty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Apply new coding standards or patterns, Replace legacy syntax with modern equivalents.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267F4C4-0EDB-226D-3000-13ECD5E3F55B}"/>
                    </a:ext>
                  </a:extLst>
                </p:cNvPr>
                <p:cNvSpPr txBox="1"/>
                <p:nvPr/>
              </p:nvSpPr>
              <p:spPr>
                <a:xfrm>
                  <a:off x="4660024" y="5411736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Codebase Modernization</a:t>
                  </a:r>
                  <a:endParaRPr lang="en-IN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EA8EEA3-8E88-3BE9-0A85-B7D93C92DA41}"/>
                    </a:ext>
                  </a:extLst>
                </p:cNvPr>
                <p:cNvSpPr/>
                <p:nvPr/>
              </p:nvSpPr>
              <p:spPr>
                <a:xfrm>
                  <a:off x="8345109" y="5411736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 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Modify or enhance a feature that spans several modules—like updating an authentication flow or adding logging.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B641AF-ADB1-66B0-2A4C-0EDCAAFE11FC}"/>
                    </a:ext>
                  </a:extLst>
                </p:cNvPr>
                <p:cNvSpPr txBox="1"/>
                <p:nvPr/>
              </p:nvSpPr>
              <p:spPr>
                <a:xfrm>
                  <a:off x="8631150" y="5468527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Feature-Wide Logic Updates</a:t>
                  </a:r>
                  <a:endParaRPr lang="en-IN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329E4F-700A-9C8F-AC2D-E0DFF95AB3AE}"/>
                  </a:ext>
                </a:extLst>
              </p:cNvPr>
              <p:cNvSpPr txBox="1"/>
              <p:nvPr/>
            </p:nvSpPr>
            <p:spPr>
              <a:xfrm>
                <a:off x="284989" y="5014462"/>
                <a:ext cx="11659633" cy="518865"/>
              </a:xfrm>
              <a:prstGeom prst="roundRect">
                <a:avLst/>
              </a:prstGeom>
              <a:solidFill>
                <a:srgbClr val="0070AD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b="1" i="0" dirty="0">
                    <a:solidFill>
                      <a:schemeClr val="bg1"/>
                    </a:solidFill>
                    <a:effectLst/>
                    <a:latin typeface="Segoe Sans"/>
                  </a:rPr>
                  <a:t>Use</a:t>
                </a:r>
                <a:r>
                  <a:rPr lang="en-IN" sz="1600" b="1" i="0" dirty="0">
                    <a:solidFill>
                      <a:srgbClr val="424242"/>
                    </a:solidFill>
                    <a:effectLst/>
                    <a:latin typeface="Segoe Sans"/>
                  </a:rPr>
                  <a:t> </a:t>
                </a:r>
                <a:r>
                  <a:rPr lang="en-IN" sz="1600" b="1" i="0" dirty="0">
                    <a:solidFill>
                      <a:schemeClr val="bg1"/>
                    </a:solidFill>
                    <a:effectLst/>
                    <a:latin typeface="Segoe Sans"/>
                  </a:rPr>
                  <a:t>Cases</a:t>
                </a:r>
              </a:p>
              <a:p>
                <a:pPr algn="ctr"/>
                <a:endParaRPr lang="en-IN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48AC0FE-F77E-BBF1-7F13-A755A3C6D69F}"/>
                </a:ext>
              </a:extLst>
            </p:cNvPr>
            <p:cNvSpPr/>
            <p:nvPr/>
          </p:nvSpPr>
          <p:spPr>
            <a:xfrm>
              <a:off x="372839" y="2323320"/>
              <a:ext cx="11459132" cy="1433455"/>
            </a:xfrm>
            <a:prstGeom prst="roundRect">
              <a:avLst>
                <a:gd name="adj" fmla="val 3790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23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5A248F-DBF0-4CEB-DE59-67BB247C6D3D}"/>
              </a:ext>
            </a:extLst>
          </p:cNvPr>
          <p:cNvSpPr/>
          <p:nvPr/>
        </p:nvSpPr>
        <p:spPr>
          <a:xfrm>
            <a:off x="1140542" y="3814916"/>
            <a:ext cx="10144871" cy="27137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0A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dirty="0" err="1">
              <a:solidFill>
                <a:schemeClr val="tx1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08ECEA2-A0CA-9912-6FCE-458887C585DF}"/>
              </a:ext>
            </a:extLst>
          </p:cNvPr>
          <p:cNvSpPr txBox="1">
            <a:spLocks/>
          </p:cNvSpPr>
          <p:nvPr/>
        </p:nvSpPr>
        <p:spPr>
          <a:xfrm>
            <a:off x="561870" y="-1824817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42F45FDF-4599-B8B5-01B4-99214D882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58" y="81792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86EBE9-0F89-9D21-C1D9-1766595F07B7}"/>
              </a:ext>
            </a:extLst>
          </p:cNvPr>
          <p:cNvSpPr txBox="1"/>
          <p:nvPr/>
        </p:nvSpPr>
        <p:spPr>
          <a:xfrm>
            <a:off x="337030" y="210686"/>
            <a:ext cx="5562325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 dirty="0">
                <a:solidFill>
                  <a:srgbClr val="12ABDB"/>
                </a:solidFill>
                <a:effectLst/>
                <a:latin typeface="Segoe Sans"/>
              </a:rPr>
              <a:t>When to Use </a:t>
            </a:r>
            <a:r>
              <a:rPr lang="en-US" sz="1600" b="1" dirty="0">
                <a:solidFill>
                  <a:srgbClr val="12ABDB"/>
                </a:solidFill>
                <a:latin typeface="Segoe Sans"/>
              </a:rPr>
              <a:t>Copilot</a:t>
            </a:r>
            <a:r>
              <a:rPr lang="en-IN" sz="1600" b="1" i="0" dirty="0">
                <a:solidFill>
                  <a:srgbClr val="1AA1D8"/>
                </a:solidFill>
                <a:effectLst/>
                <a:latin typeface="Segoe Sans"/>
              </a:rPr>
              <a:t> Edits (Multi-file Editing</a:t>
            </a:r>
            <a:r>
              <a:rPr lang="en-US" sz="1600" b="1" dirty="0">
                <a:solidFill>
                  <a:srgbClr val="12ABDB"/>
                </a:solidFill>
                <a:latin typeface="Segoe Sans"/>
              </a:rPr>
              <a:t>)</a:t>
            </a:r>
            <a:endParaRPr lang="en-US" sz="1600" b="1" i="0" dirty="0">
              <a:solidFill>
                <a:srgbClr val="12ABDB"/>
              </a:solidFill>
              <a:effectLst/>
              <a:latin typeface="Segoe San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7A0D00-882E-3E1D-1D87-FD0A4F3CAF11}"/>
              </a:ext>
            </a:extLst>
          </p:cNvPr>
          <p:cNvSpPr/>
          <p:nvPr/>
        </p:nvSpPr>
        <p:spPr>
          <a:xfrm>
            <a:off x="412355" y="917467"/>
            <a:ext cx="11367289" cy="777261"/>
          </a:xfrm>
          <a:prstGeom prst="roundRect">
            <a:avLst>
              <a:gd name="adj" fmla="val 1372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C4B4C-2275-9B87-0041-4DD8FDF30C02}"/>
              </a:ext>
            </a:extLst>
          </p:cNvPr>
          <p:cNvSpPr txBox="1"/>
          <p:nvPr/>
        </p:nvSpPr>
        <p:spPr>
          <a:xfrm>
            <a:off x="537273" y="977547"/>
            <a:ext cx="10723543" cy="656206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/>
            </a:pPr>
            <a:r>
              <a:rPr lang="en-US" sz="1400" b="1" dirty="0">
                <a:solidFill>
                  <a:schemeClr val="accent2"/>
                </a:solidFill>
                <a:latin typeface="Ubuntu" panose="020B0504030602030204" pitchFamily="34" charset="0"/>
              </a:rPr>
              <a:t>During Large-Scale Refactoring</a:t>
            </a:r>
            <a:r>
              <a:rPr lang="en-US" sz="1400" b="1" i="0" u="none" strike="noStrike" baseline="0" dirty="0">
                <a:solidFill>
                  <a:schemeClr val="accent2"/>
                </a:solidFill>
                <a:latin typeface="Ubuntu" panose="020B0504030602030204" pitchFamily="34" charset="0"/>
              </a:rPr>
              <a:t> : </a:t>
            </a:r>
          </a:p>
          <a:p>
            <a:pPr algn="l"/>
            <a:endParaRPr lang="en-US" sz="105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lvl="1"/>
            <a:r>
              <a:rPr lang="en-US" sz="1200" b="1" i="0" dirty="0">
                <a:solidFill>
                  <a:schemeClr val="bg1"/>
                </a:solidFill>
                <a:effectLst/>
                <a:latin typeface="Segoe Sans"/>
              </a:rPr>
              <a:t>When you need to rename a function, update a pattern, or restructure logic that appears in multiple files.</a:t>
            </a:r>
            <a:endParaRPr lang="en-US" sz="1200" b="1" i="0" u="none" strike="noStrike" baseline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5B99C0-B328-6186-9307-BA8A3808AEF8}"/>
              </a:ext>
            </a:extLst>
          </p:cNvPr>
          <p:cNvSpPr/>
          <p:nvPr/>
        </p:nvSpPr>
        <p:spPr>
          <a:xfrm>
            <a:off x="412354" y="1840511"/>
            <a:ext cx="11367289" cy="710068"/>
          </a:xfrm>
          <a:prstGeom prst="roundRect">
            <a:avLst>
              <a:gd name="adj" fmla="val 4908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E4DF6-5D28-3622-586D-80D565B7ECFF}"/>
              </a:ext>
            </a:extLst>
          </p:cNvPr>
          <p:cNvSpPr txBox="1"/>
          <p:nvPr/>
        </p:nvSpPr>
        <p:spPr>
          <a:xfrm>
            <a:off x="574168" y="1797248"/>
            <a:ext cx="10698946" cy="710067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 startAt="2"/>
            </a:pPr>
            <a:r>
              <a:rPr lang="en-IN" sz="1400" b="1" i="0" dirty="0">
                <a:solidFill>
                  <a:srgbClr val="1AA1D8"/>
                </a:solidFill>
                <a:effectLst/>
                <a:latin typeface="Segoe Sans"/>
              </a:rPr>
              <a:t>When Implementing Cross-Cutting Changes </a:t>
            </a:r>
            <a:r>
              <a:rPr lang="en-US" sz="1400" b="1" i="0" u="none" strike="noStrike" baseline="0" dirty="0">
                <a:solidFill>
                  <a:srgbClr val="1AA1D8"/>
                </a:solidFill>
                <a:latin typeface="Ubuntu" panose="020B0504030602030204" pitchFamily="34" charset="0"/>
              </a:rPr>
              <a:t>:</a:t>
            </a:r>
          </a:p>
          <a:p>
            <a:pPr algn="l">
              <a:spcBef>
                <a:spcPct val="0"/>
              </a:spcBef>
            </a:pPr>
            <a:endParaRPr lang="en-US" sz="1400" b="1" i="0" u="none" strike="noStrike" baseline="0" dirty="0">
              <a:solidFill>
                <a:schemeClr val="accent2"/>
              </a:solidFill>
              <a:latin typeface="Ubuntu" panose="020B0504030602030204" pitchFamily="34" charset="0"/>
            </a:endParaRPr>
          </a:p>
          <a:p>
            <a:pPr algn="l">
              <a:spcBef>
                <a:spcPct val="0"/>
              </a:spcBef>
            </a:pPr>
            <a:r>
              <a:rPr lang="en-US" sz="1200" b="1" i="0" dirty="0">
                <a:solidFill>
                  <a:schemeClr val="bg1"/>
                </a:solidFill>
                <a:effectLst/>
                <a:latin typeface="Segoe Sans"/>
              </a:rPr>
              <a:t>         For updates that affect several parts of the codebase—like changing an API response format or updating error handling.</a:t>
            </a:r>
            <a:endParaRPr lang="en-US" sz="1200" b="1" i="0" u="none" strike="noStrike" baseline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CFD71E-7C53-B668-E02F-FAC01956EED0}"/>
              </a:ext>
            </a:extLst>
          </p:cNvPr>
          <p:cNvSpPr/>
          <p:nvPr/>
        </p:nvSpPr>
        <p:spPr>
          <a:xfrm>
            <a:off x="412353" y="2702204"/>
            <a:ext cx="11367289" cy="890351"/>
          </a:xfrm>
          <a:prstGeom prst="roundRect">
            <a:avLst>
              <a:gd name="adj" fmla="val 910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2AA5B-3F96-F061-6705-BED52C2EEE52}"/>
              </a:ext>
            </a:extLst>
          </p:cNvPr>
          <p:cNvSpPr txBox="1"/>
          <p:nvPr/>
        </p:nvSpPr>
        <p:spPr>
          <a:xfrm>
            <a:off x="561870" y="2815428"/>
            <a:ext cx="10723543" cy="66390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b="1" dirty="0">
                <a:solidFill>
                  <a:srgbClr val="12ABDB"/>
                </a:solidFill>
              </a:rPr>
              <a:t>3. </a:t>
            </a:r>
            <a:r>
              <a:rPr lang="en-US" sz="1400" b="1" i="0" dirty="0">
                <a:solidFill>
                  <a:srgbClr val="12ABDB"/>
                </a:solidFill>
                <a:effectLst/>
                <a:latin typeface="Segoe Sans"/>
              </a:rPr>
              <a:t>Before or After Major Feature Releases </a:t>
            </a:r>
            <a:r>
              <a:rPr lang="en-US" sz="1400" b="1" dirty="0">
                <a:solidFill>
                  <a:srgbClr val="12ABDB"/>
                </a:solidFill>
              </a:rPr>
              <a:t>:</a:t>
            </a:r>
          </a:p>
          <a:p>
            <a:pPr algn="l">
              <a:spcBef>
                <a:spcPct val="0"/>
              </a:spcBef>
            </a:pPr>
            <a:endParaRPr lang="en-US" sz="1100" dirty="0">
              <a:solidFill>
                <a:schemeClr val="bg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 sz="1200" b="1" i="0" dirty="0">
                <a:solidFill>
                  <a:schemeClr val="bg1"/>
                </a:solidFill>
                <a:effectLst/>
                <a:latin typeface="Segoe Sans"/>
              </a:rPr>
              <a:t>To ensure consistency across modules, apply final polish, or align code with new standards or naming conventions.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12A7B-4B73-097A-B20E-4F9D15319BE7}"/>
              </a:ext>
            </a:extLst>
          </p:cNvPr>
          <p:cNvSpPr txBox="1"/>
          <p:nvPr/>
        </p:nvSpPr>
        <p:spPr>
          <a:xfrm>
            <a:off x="3523717" y="3977149"/>
            <a:ext cx="6750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AA1D8"/>
                </a:solidFill>
              </a:rPr>
              <a:t>Solutions provided By </a:t>
            </a:r>
            <a:r>
              <a:rPr lang="en-IN" b="1" i="0" dirty="0">
                <a:solidFill>
                  <a:srgbClr val="1AA1D8"/>
                </a:solidFill>
                <a:effectLst/>
                <a:latin typeface="Segoe Sans"/>
              </a:rPr>
              <a:t>Copilot Edits (Multi-file Editing)</a:t>
            </a:r>
            <a:r>
              <a:rPr lang="en-US" b="1" dirty="0">
                <a:solidFill>
                  <a:srgbClr val="1AA1D8"/>
                </a:solidFill>
              </a:rPr>
              <a:t>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DAB57B-C0D1-1C46-80A4-C96280AA38B1}"/>
              </a:ext>
            </a:extLst>
          </p:cNvPr>
          <p:cNvSpPr/>
          <p:nvPr/>
        </p:nvSpPr>
        <p:spPr>
          <a:xfrm>
            <a:off x="1975862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431B0-FA9F-7F85-16B9-AB332162A5E2}"/>
              </a:ext>
            </a:extLst>
          </p:cNvPr>
          <p:cNvSpPr txBox="1"/>
          <p:nvPr/>
        </p:nvSpPr>
        <p:spPr>
          <a:xfrm>
            <a:off x="2322010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 dirty="0">
                <a:solidFill>
                  <a:srgbClr val="BCE7FF"/>
                </a:solidFill>
              </a:rPr>
              <a:t>Automated Multi-Files Editing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28279B-14ED-ED0B-14A7-F754233B1352}"/>
              </a:ext>
            </a:extLst>
          </p:cNvPr>
          <p:cNvSpPr/>
          <p:nvPr/>
        </p:nvSpPr>
        <p:spPr>
          <a:xfrm>
            <a:off x="6747044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5EB70-BD8B-B9FD-32C4-C0F8720BBE11}"/>
              </a:ext>
            </a:extLst>
          </p:cNvPr>
          <p:cNvSpPr txBox="1"/>
          <p:nvPr/>
        </p:nvSpPr>
        <p:spPr>
          <a:xfrm>
            <a:off x="7093192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 dirty="0">
                <a:solidFill>
                  <a:srgbClr val="BCE7FF"/>
                </a:solidFill>
              </a:rPr>
              <a:t>Context-Aware Suggestions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6FB202-DEC6-7F3A-F090-9ABAFA393A72}"/>
              </a:ext>
            </a:extLst>
          </p:cNvPr>
          <p:cNvSpPr/>
          <p:nvPr/>
        </p:nvSpPr>
        <p:spPr>
          <a:xfrm>
            <a:off x="4332529" y="5689628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2C9A6-B0B7-972B-952D-6B5D406CAB9C}"/>
              </a:ext>
            </a:extLst>
          </p:cNvPr>
          <p:cNvSpPr txBox="1"/>
          <p:nvPr/>
        </p:nvSpPr>
        <p:spPr>
          <a:xfrm>
            <a:off x="4678677" y="58581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 dirty="0">
                <a:solidFill>
                  <a:srgbClr val="BCE7FF"/>
                </a:solidFill>
              </a:rPr>
              <a:t> Inline Review and Control</a:t>
            </a:r>
          </a:p>
        </p:txBody>
      </p:sp>
    </p:spTree>
    <p:extLst>
      <p:ext uri="{BB962C8B-B14F-4D97-AF65-F5344CB8AC3E}">
        <p14:creationId xmlns:p14="http://schemas.microsoft.com/office/powerpoint/2010/main" val="3269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11BE-F00C-5A91-A0D0-29208986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49C5683B-F044-F8BF-D459-15DFCC1F3FC0}"/>
              </a:ext>
            </a:extLst>
          </p:cNvPr>
          <p:cNvSpPr txBox="1">
            <a:spLocks/>
          </p:cNvSpPr>
          <p:nvPr/>
        </p:nvSpPr>
        <p:spPr>
          <a:xfrm>
            <a:off x="561870" y="-1824817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FF889922-194D-77E2-2ED4-D9B7451282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58" y="81792"/>
            <a:ext cx="719455" cy="719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6887AE-969F-21E2-9588-60F31894DAAE}"/>
              </a:ext>
            </a:extLst>
          </p:cNvPr>
          <p:cNvSpPr txBox="1"/>
          <p:nvPr/>
        </p:nvSpPr>
        <p:spPr>
          <a:xfrm>
            <a:off x="812576" y="2342546"/>
            <a:ext cx="10723543" cy="157184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8800" i="0" u="none" strike="noStrike" baseline="0" dirty="0">
                <a:solidFill>
                  <a:schemeClr val="bg1"/>
                </a:solidFill>
                <a:latin typeface="Ubuntu" panose="020B0504030602030204" pitchFamily="34" charset="0"/>
              </a:rPr>
              <a:t>Thank</a:t>
            </a:r>
            <a:r>
              <a:rPr lang="en-US" sz="5400" i="0" u="none" strike="noStrike" baseline="0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en-US" sz="9600" i="0" u="none" strike="noStrike" baseline="0" dirty="0">
                <a:solidFill>
                  <a:schemeClr val="bg1"/>
                </a:solidFill>
                <a:latin typeface="Ubuntu" panose="020B0504030602030204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649597018"/>
      </p:ext>
    </p:extLst>
  </p:cSld>
  <p:clrMapOvr>
    <a:masterClrMapping/>
  </p:clrMapOvr>
</p:sld>
</file>

<file path=ppt/theme/theme1.xml><?xml version="1.0" encoding="utf-8"?>
<a:theme xmlns:a="http://schemas.openxmlformats.org/drawingml/2006/main" name="1_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2.xml><?xml version="1.0" encoding="utf-8"?>
<a:theme xmlns:a="http://schemas.openxmlformats.org/drawingml/2006/main" name="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176d5b-9430-4e66-b33f-41903d64ba6b">
      <Terms xmlns="http://schemas.microsoft.com/office/infopath/2007/PartnerControls"/>
    </lcf76f155ced4ddcb4097134ff3c332f>
    <TaxCatchAll xmlns="75f6b4fc-a96d-4771-97b5-b90f5c6cd162" xsi:nil="true"/>
    <Location xmlns="73176d5b-9430-4e66-b33f-41903d64ba6b" xsi:nil="true"/>
    <AssociatedLearning xmlns="73176d5b-9430-4e66-b33f-41903d64ba6b" xsi:nil="true"/>
    <AddedtoCampusDate xmlns="73176d5b-9430-4e66-b33f-41903d64ba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4EED2041BB84FAADAEEED37CCA767" ma:contentTypeVersion="22" ma:contentTypeDescription="Create a new document." ma:contentTypeScope="" ma:versionID="954ff4ebb23f7fd76e74602c19edb222">
  <xsd:schema xmlns:xsd="http://www.w3.org/2001/XMLSchema" xmlns:xs="http://www.w3.org/2001/XMLSchema" xmlns:p="http://schemas.microsoft.com/office/2006/metadata/properties" xmlns:ns2="73176d5b-9430-4e66-b33f-41903d64ba6b" xmlns:ns3="75f6b4fc-a96d-4771-97b5-b90f5c6cd162" targetNamespace="http://schemas.microsoft.com/office/2006/metadata/properties" ma:root="true" ma:fieldsID="2a6d7072647e6ca964d284378c95fa8e" ns2:_="" ns3:_="">
    <xsd:import namespace="73176d5b-9430-4e66-b33f-41903d64ba6b"/>
    <xsd:import namespace="75f6b4fc-a96d-4771-97b5-b90f5c6cd1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Location" minOccurs="0"/>
                <xsd:element ref="ns2:AddedtoCampusDate" minOccurs="0"/>
                <xsd:element ref="ns2:AssociatedLearnin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76d5b-9430-4e66-b33f-41903d64b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cation" ma:index="26" nillable="true" ma:displayName="Location " ma:format="Dropdown" ma:internalName="Location">
      <xsd:simpleType>
        <xsd:restriction base="dms:Text">
          <xsd:maxLength value="255"/>
        </xsd:restriction>
      </xsd:simpleType>
    </xsd:element>
    <xsd:element name="AddedtoCampusDate" ma:index="27" nillable="true" ma:displayName="Added to Degreed Date" ma:format="Dropdown" ma:internalName="AddedtoCampusDate">
      <xsd:simpleType>
        <xsd:restriction base="dms:Text">
          <xsd:maxLength value="255"/>
        </xsd:restriction>
      </xsd:simpleType>
    </xsd:element>
    <xsd:element name="AssociatedLearning" ma:index="28" nillable="true" ma:displayName="Associated Learning " ma:format="Dropdown" ma:internalName="AssociatedLearning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6b4fc-a96d-4771-97b5-b90f5c6cd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1938d20-e235-48fa-8a74-77124f4bdd41}" ma:internalName="TaxCatchAll" ma:showField="CatchAllData" ma:web="75f6b4fc-a96d-4771-97b5-b90f5c6cd1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5A860F-AA42-4543-B3FE-9796F758843F}">
  <ds:schemaRefs>
    <ds:schemaRef ds:uri="5f01e191-dc5a-45a0-9ebd-a621c9c55409"/>
    <ds:schemaRef ds:uri="http://schemas.openxmlformats.org/package/2006/metadata/core-properties"/>
    <ds:schemaRef ds:uri="1e65a310-9dde-44e7-b480-c6c14b7ff9b8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A4AB5EE-51F2-4B2D-90C7-AD659AEBC4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3642C3-7AB8-46EC-ABB8-3056B7DC32A5}"/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1162</TotalTime>
  <Words>977</Words>
  <Application>Microsoft Office PowerPoint</Application>
  <PresentationFormat>Widescreen</PresentationFormat>
  <Paragraphs>90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-apple-system</vt:lpstr>
      <vt:lpstr>Aptos</vt:lpstr>
      <vt:lpstr>Arial</vt:lpstr>
      <vt:lpstr>Calibri</vt:lpstr>
      <vt:lpstr>Segoe Sans</vt:lpstr>
      <vt:lpstr>Ubuntu</vt:lpstr>
      <vt:lpstr>Ubuntu Light</vt:lpstr>
      <vt:lpstr>Ubuntu Medium</vt:lpstr>
      <vt:lpstr>Verdana</vt:lpstr>
      <vt:lpstr>Wingdings</vt:lpstr>
      <vt:lpstr>1_Capgemini_2024</vt:lpstr>
      <vt:lpstr>Capgemini_2024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Sumit</dc:creator>
  <cp:lastModifiedBy>Ghatage, Anuja</cp:lastModifiedBy>
  <cp:revision>52</cp:revision>
  <dcterms:created xsi:type="dcterms:W3CDTF">2024-12-11T07:14:28Z</dcterms:created>
  <dcterms:modified xsi:type="dcterms:W3CDTF">2025-05-06T10:59:15Z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0x010100C3F4EED2041BB84FAADAEEED37CCA767</vt:lpwstr>
  </property>
  <property fmtid="{D5CDD505-2E9C-101B-9397-08002B2CF9AE}" pid="3" name="MediaServiceImageTags">
    <vt:lpwstr/>
  </property>
</Properties>
</file>