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22" r:id="rId5"/>
  </p:sldMasterIdLst>
  <p:notesMasterIdLst>
    <p:notesMasterId r:id="rId10"/>
  </p:notesMasterIdLst>
  <p:sldIdLst>
    <p:sldId id="257" r:id="rId6"/>
    <p:sldId id="2147482924" r:id="rId7"/>
    <p:sldId id="2147482830" r:id="rId8"/>
    <p:sldId id="214748292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84AA"/>
    <a:srgbClr val="BCE7FF"/>
    <a:srgbClr val="0070AD"/>
    <a:srgbClr val="12ABDB"/>
    <a:srgbClr val="1AA1D8"/>
    <a:srgbClr val="0D0E13"/>
    <a:srgbClr val="383B4E"/>
    <a:srgbClr val="298D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101480-DD49-3C82-ABB1-2F4F7707A8CD}" v="10" dt="2025-04-30T14:12:56.359"/>
    <p1510:client id="{A00E0E00-B492-C6D1-1E62-3F8F2E3C2101}" v="12" dt="2025-04-30T13:57:15.890"/>
    <p1510:client id="{F13D6999-F487-42C7-B279-106C6C4C8C78}" v="5" dt="2025-04-30T14:25:10.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dav, Yash Raj" userId="S::yash-raj.yadav@capgemini.com::73c5ece9-f22c-4a30-b5c6-4a70150484d3" providerId="AD" clId="Web-{A00E0E00-B492-C6D1-1E62-3F8F2E3C2101}"/>
    <pc:docChg chg="modSld">
      <pc:chgData name="Yadav, Yash Raj" userId="S::yash-raj.yadav@capgemini.com::73c5ece9-f22c-4a30-b5c6-4a70150484d3" providerId="AD" clId="Web-{A00E0E00-B492-C6D1-1E62-3F8F2E3C2101}" dt="2025-04-30T13:57:14.437" v="4" actId="20577"/>
      <pc:docMkLst>
        <pc:docMk/>
      </pc:docMkLst>
      <pc:sldChg chg="modSp">
        <pc:chgData name="Yadav, Yash Raj" userId="S::yash-raj.yadav@capgemini.com::73c5ece9-f22c-4a30-b5c6-4a70150484d3" providerId="AD" clId="Web-{A00E0E00-B492-C6D1-1E62-3F8F2E3C2101}" dt="2025-04-30T13:57:14.437" v="4" actId="20577"/>
        <pc:sldMkLst>
          <pc:docMk/>
          <pc:sldMk cId="3322232334" sldId="2147482924"/>
        </pc:sldMkLst>
        <pc:spChg chg="mod">
          <ac:chgData name="Yadav, Yash Raj" userId="S::yash-raj.yadav@capgemini.com::73c5ece9-f22c-4a30-b5c6-4a70150484d3" providerId="AD" clId="Web-{A00E0E00-B492-C6D1-1E62-3F8F2E3C2101}" dt="2025-04-30T13:56:47.514" v="0" actId="20577"/>
          <ac:spMkLst>
            <pc:docMk/>
            <pc:sldMk cId="3322232334" sldId="2147482924"/>
            <ac:spMk id="11" creationId="{E241652D-B33D-70B5-E363-ADFF048CF466}"/>
          </ac:spMkLst>
        </pc:spChg>
        <pc:spChg chg="mod">
          <ac:chgData name="Yadav, Yash Raj" userId="S::yash-raj.yadav@capgemini.com::73c5ece9-f22c-4a30-b5c6-4a70150484d3" providerId="AD" clId="Web-{A00E0E00-B492-C6D1-1E62-3F8F2E3C2101}" dt="2025-04-30T13:57:14.437" v="4" actId="20577"/>
          <ac:spMkLst>
            <pc:docMk/>
            <pc:sldMk cId="3322232334" sldId="2147482924"/>
            <ac:spMk id="24" creationId="{669E9077-BB8D-879A-7558-BC0BF73D1931}"/>
          </ac:spMkLst>
        </pc:spChg>
      </pc:sldChg>
    </pc:docChg>
  </pc:docChgLst>
  <pc:docChgLst>
    <pc:chgData name="Yadav, Yash Raj" userId="S::yash-raj.yadav@capgemini.com::73c5ece9-f22c-4a30-b5c6-4a70150484d3" providerId="AD" clId="Web-{AB768CE6-35CA-59DF-BB6D-704EB6F8D8E1}"/>
    <pc:docChg chg="modSld">
      <pc:chgData name="Yadav, Yash Raj" userId="S::yash-raj.yadav@capgemini.com::73c5ece9-f22c-4a30-b5c6-4a70150484d3" providerId="AD" clId="Web-{AB768CE6-35CA-59DF-BB6D-704EB6F8D8E1}" dt="2025-04-29T12:01:30.059" v="33" actId="20577"/>
      <pc:docMkLst>
        <pc:docMk/>
      </pc:docMkLst>
      <pc:sldChg chg="modSp">
        <pc:chgData name="Yadav, Yash Raj" userId="S::yash-raj.yadav@capgemini.com::73c5ece9-f22c-4a30-b5c6-4a70150484d3" providerId="AD" clId="Web-{AB768CE6-35CA-59DF-BB6D-704EB6F8D8E1}" dt="2025-04-29T12:01:30.059" v="33" actId="20577"/>
        <pc:sldMkLst>
          <pc:docMk/>
          <pc:sldMk cId="1663957642" sldId="257"/>
        </pc:sldMkLst>
        <pc:spChg chg="mod">
          <ac:chgData name="Yadav, Yash Raj" userId="S::yash-raj.yadav@capgemini.com::73c5ece9-f22c-4a30-b5c6-4a70150484d3" providerId="AD" clId="Web-{AB768CE6-35CA-59DF-BB6D-704EB6F8D8E1}" dt="2025-04-29T12:01:30.059" v="33" actId="20577"/>
          <ac:spMkLst>
            <pc:docMk/>
            <pc:sldMk cId="1663957642" sldId="257"/>
            <ac:spMk id="4" creationId="{72E17076-991C-431A-9B77-E8363D54BDC9}"/>
          </ac:spMkLst>
        </pc:spChg>
      </pc:sldChg>
    </pc:docChg>
  </pc:docChgLst>
  <pc:docChgLst>
    <pc:chgData name="Yadav, Yash Raj" userId="S::yash-raj.yadav@capgemini.com::73c5ece9-f22c-4a30-b5c6-4a70150484d3" providerId="AD" clId="Web-{9E101480-DD49-3C82-ABB1-2F4F7707A8CD}"/>
    <pc:docChg chg="modSld">
      <pc:chgData name="Yadav, Yash Raj" userId="S::yash-raj.yadav@capgemini.com::73c5ece9-f22c-4a30-b5c6-4a70150484d3" providerId="AD" clId="Web-{9E101480-DD49-3C82-ABB1-2F4F7707A8CD}" dt="2025-04-30T14:12:53.437" v="7" actId="20577"/>
      <pc:docMkLst>
        <pc:docMk/>
      </pc:docMkLst>
      <pc:sldChg chg="modSp">
        <pc:chgData name="Yadav, Yash Raj" userId="S::yash-raj.yadav@capgemini.com::73c5ece9-f22c-4a30-b5c6-4a70150484d3" providerId="AD" clId="Web-{9E101480-DD49-3C82-ABB1-2F4F7707A8CD}" dt="2025-04-30T14:12:53.437" v="7" actId="20577"/>
        <pc:sldMkLst>
          <pc:docMk/>
          <pc:sldMk cId="1663957642" sldId="257"/>
        </pc:sldMkLst>
        <pc:spChg chg="mod">
          <ac:chgData name="Yadav, Yash Raj" userId="S::yash-raj.yadav@capgemini.com::73c5ece9-f22c-4a30-b5c6-4a70150484d3" providerId="AD" clId="Web-{9E101480-DD49-3C82-ABB1-2F4F7707A8CD}" dt="2025-04-30T14:12:53.437" v="7" actId="20577"/>
          <ac:spMkLst>
            <pc:docMk/>
            <pc:sldMk cId="1663957642" sldId="257"/>
            <ac:spMk id="4" creationId="{72E17076-991C-431A-9B77-E8363D54BDC9}"/>
          </ac:spMkLst>
        </pc:spChg>
      </pc:sldChg>
    </pc:docChg>
  </pc:docChgLst>
  <pc:docChgLst>
    <pc:chgData name="Yadav, Yash Raj" userId="73c5ece9-f22c-4a30-b5c6-4a70150484d3" providerId="ADAL" clId="{F13D6999-F487-42C7-B279-106C6C4C8C78}"/>
    <pc:docChg chg="modSld">
      <pc:chgData name="Yadav, Yash Raj" userId="73c5ece9-f22c-4a30-b5c6-4a70150484d3" providerId="ADAL" clId="{F13D6999-F487-42C7-B279-106C6C4C8C78}" dt="2025-04-30T14:25:10.938" v="64" actId="20577"/>
      <pc:docMkLst>
        <pc:docMk/>
      </pc:docMkLst>
      <pc:sldChg chg="modSp mod">
        <pc:chgData name="Yadav, Yash Raj" userId="73c5ece9-f22c-4a30-b5c6-4a70150484d3" providerId="ADAL" clId="{F13D6999-F487-42C7-B279-106C6C4C8C78}" dt="2025-04-30T14:00:46.981" v="23" actId="20577"/>
        <pc:sldMkLst>
          <pc:docMk/>
          <pc:sldMk cId="1663957642" sldId="257"/>
        </pc:sldMkLst>
        <pc:spChg chg="mod">
          <ac:chgData name="Yadav, Yash Raj" userId="73c5ece9-f22c-4a30-b5c6-4a70150484d3" providerId="ADAL" clId="{F13D6999-F487-42C7-B279-106C6C4C8C78}" dt="2025-04-30T14:00:46.981" v="23" actId="20577"/>
          <ac:spMkLst>
            <pc:docMk/>
            <pc:sldMk cId="1663957642" sldId="257"/>
            <ac:spMk id="4" creationId="{72E17076-991C-431A-9B77-E8363D54BDC9}"/>
          </ac:spMkLst>
        </pc:spChg>
      </pc:sldChg>
      <pc:sldChg chg="modSp mod">
        <pc:chgData name="Yadav, Yash Raj" userId="73c5ece9-f22c-4a30-b5c6-4a70150484d3" providerId="ADAL" clId="{F13D6999-F487-42C7-B279-106C6C4C8C78}" dt="2025-04-30T13:59:11.793" v="6" actId="207"/>
        <pc:sldMkLst>
          <pc:docMk/>
          <pc:sldMk cId="326916843" sldId="2147482830"/>
        </pc:sldMkLst>
        <pc:spChg chg="mod">
          <ac:chgData name="Yadav, Yash Raj" userId="73c5ece9-f22c-4a30-b5c6-4a70150484d3" providerId="ADAL" clId="{F13D6999-F487-42C7-B279-106C6C4C8C78}" dt="2025-04-30T13:59:11.793" v="6" actId="207"/>
          <ac:spMkLst>
            <pc:docMk/>
            <pc:sldMk cId="326916843" sldId="2147482830"/>
            <ac:spMk id="7" creationId="{BF612A7B-4B73-097A-B20E-4F9D15319BE7}"/>
          </ac:spMkLst>
        </pc:spChg>
        <pc:spChg chg="mod">
          <ac:chgData name="Yadav, Yash Raj" userId="73c5ece9-f22c-4a30-b5c6-4a70150484d3" providerId="ADAL" clId="{F13D6999-F487-42C7-B279-106C6C4C8C78}" dt="2025-04-30T13:58:45.911" v="3" actId="207"/>
          <ac:spMkLst>
            <pc:docMk/>
            <pc:sldMk cId="326916843" sldId="2147482830"/>
            <ac:spMk id="8" creationId="{F69C4B4C-2275-9B87-0041-4DD8FDF30C02}"/>
          </ac:spMkLst>
        </pc:spChg>
        <pc:spChg chg="mod">
          <ac:chgData name="Yadav, Yash Raj" userId="73c5ece9-f22c-4a30-b5c6-4a70150484d3" providerId="ADAL" clId="{F13D6999-F487-42C7-B279-106C6C4C8C78}" dt="2025-04-30T13:58:53.316" v="4" actId="207"/>
          <ac:spMkLst>
            <pc:docMk/>
            <pc:sldMk cId="326916843" sldId="2147482830"/>
            <ac:spMk id="12" creationId="{A0EE4DF6-5D28-3622-586D-80D565B7ECFF}"/>
          </ac:spMkLst>
        </pc:spChg>
        <pc:spChg chg="mod">
          <ac:chgData name="Yadav, Yash Raj" userId="73c5ece9-f22c-4a30-b5c6-4a70150484d3" providerId="ADAL" clId="{F13D6999-F487-42C7-B279-106C6C4C8C78}" dt="2025-04-30T13:58:56.761" v="5" actId="207"/>
          <ac:spMkLst>
            <pc:docMk/>
            <pc:sldMk cId="326916843" sldId="2147482830"/>
            <ac:spMk id="13" creationId="{7372AA5B-3F96-F061-6705-BED52C2EEE52}"/>
          </ac:spMkLst>
        </pc:spChg>
      </pc:sldChg>
      <pc:sldChg chg="modSp mod">
        <pc:chgData name="Yadav, Yash Raj" userId="73c5ece9-f22c-4a30-b5c6-4a70150484d3" providerId="ADAL" clId="{F13D6999-F487-42C7-B279-106C6C4C8C78}" dt="2025-04-30T14:25:10.938" v="64" actId="20577"/>
        <pc:sldMkLst>
          <pc:docMk/>
          <pc:sldMk cId="3322232334" sldId="2147482924"/>
        </pc:sldMkLst>
        <pc:spChg chg="mod">
          <ac:chgData name="Yadav, Yash Raj" userId="73c5ece9-f22c-4a30-b5c6-4a70150484d3" providerId="ADAL" clId="{F13D6999-F487-42C7-B279-106C6C4C8C78}" dt="2025-04-30T14:25:10.938" v="64" actId="20577"/>
          <ac:spMkLst>
            <pc:docMk/>
            <pc:sldMk cId="3322232334" sldId="2147482924"/>
            <ac:spMk id="4" creationId="{76623062-759A-A9D5-A5F9-B8D55B932E0B}"/>
          </ac:spMkLst>
        </pc:spChg>
        <pc:spChg chg="mod">
          <ac:chgData name="Yadav, Yash Raj" userId="73c5ece9-f22c-4a30-b5c6-4a70150484d3" providerId="ADAL" clId="{F13D6999-F487-42C7-B279-106C6C4C8C78}" dt="2025-04-30T14:01:02.190" v="40" actId="20577"/>
          <ac:spMkLst>
            <pc:docMk/>
            <pc:sldMk cId="3322232334" sldId="2147482924"/>
            <ac:spMk id="11" creationId="{E241652D-B33D-70B5-E363-ADFF048CF466}"/>
          </ac:spMkLst>
        </pc:spChg>
        <pc:spChg chg="mod">
          <ac:chgData name="Yadav, Yash Raj" userId="73c5ece9-f22c-4a30-b5c6-4a70150484d3" providerId="ADAL" clId="{F13D6999-F487-42C7-B279-106C6C4C8C78}" dt="2025-04-30T14:01:50.540" v="59" actId="20577"/>
          <ac:spMkLst>
            <pc:docMk/>
            <pc:sldMk cId="3322232334" sldId="2147482924"/>
            <ac:spMk id="21" creationId="{4ACAC1C9-4228-C5CC-644E-ACBB2899A8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49B76A-4F7D-4E36-83F0-A884D71F268A}" type="datetimeFigureOut">
              <a:rPr lang="en-US" smtClean="0"/>
              <a:t>4/30/2025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C9D03-EA1B-41EE-9580-4BF7FC9B9C8E}" type="slidenum">
              <a:rPr lang="en-US" smtClean="0"/>
              <a:t>‹#›</a:t>
            </a:fld>
            <a:endParaRPr lang="en-US"/>
          </a:p>
        </p:txBody>
      </p:sp>
    </p:spTree>
    <p:extLst>
      <p:ext uri="{BB962C8B-B14F-4D97-AF65-F5344CB8AC3E}">
        <p14:creationId xmlns:p14="http://schemas.microsoft.com/office/powerpoint/2010/main" val="1764012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latin typeface="-apple-system"/>
              </a:rPr>
              <a:t>Welcome to this training session of prompt detailed </a:t>
            </a:r>
            <a:r>
              <a:rPr lang="en-US"/>
              <a:t>"Here, we’ll dive into the detailed features of prompt X, illustrated with an e-commerce chatbot example."</a:t>
            </a:r>
          </a:p>
          <a:p>
            <a:endParaRPr lang="en-US"/>
          </a:p>
          <a:p>
            <a:r>
              <a:rPr lang="en-US">
                <a:effectLst/>
                <a:latin typeface="-apple-system"/>
              </a:rPr>
              <a:t> </a:t>
            </a: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71A529-52D4-4CBB-B961-704D966D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0087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548F-816D-241E-5C0D-AFE2C845E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B8802-7C59-0CB8-0159-F7146473C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384C2-9860-726E-7CC8-012AC2E369AE}"/>
              </a:ext>
            </a:extLst>
          </p:cNvPr>
          <p:cNvSpPr>
            <a:spLocks noGrp="1"/>
          </p:cNvSpPr>
          <p:nvPr>
            <p:ph type="body" idx="1"/>
          </p:nvPr>
        </p:nvSpPr>
        <p:spPr/>
        <p:txBody>
          <a:bodyPr/>
          <a:lstStyle/>
          <a:p>
            <a:r>
              <a:rPr lang="en-US"/>
              <a:t>we’ll explore the concept of using </a:t>
            </a:r>
            <a:r>
              <a:rPr lang="en-US" b="1"/>
              <a:t>Multiple Data Sources</a:t>
            </a:r>
            <a:r>
              <a:rPr lang="en-US"/>
              <a:t> in Retrieval-Augmented Generation (RAG), linked to the e-commerce customer support chat application.</a:t>
            </a:r>
          </a:p>
          <a:p>
            <a:endParaRPr lang="en-US"/>
          </a:p>
          <a:p>
            <a:r>
              <a:rPr lang="en-US" b="1"/>
              <a:t>Key Concepts</a:t>
            </a:r>
          </a:p>
          <a:p>
            <a:endParaRPr lang="en-US" b="1"/>
          </a:p>
          <a:p>
            <a:r>
              <a:rPr lang="en-US" b="1"/>
              <a:t>1. Website Integration</a:t>
            </a:r>
            <a:br>
              <a:rPr lang="en-US"/>
            </a:br>
            <a:r>
              <a:rPr lang="en-US"/>
              <a:t>"This feature enables querying unstructured data directly from websites, such as product pages or FAQs.“</a:t>
            </a:r>
          </a:p>
          <a:p>
            <a:endParaRPr lang="en-US"/>
          </a:p>
          <a:p>
            <a:r>
              <a:rPr lang="en-US" b="1"/>
              <a:t>Implementation </a:t>
            </a:r>
          </a:p>
          <a:p>
            <a:r>
              <a:rPr lang="en-US" b="1" err="1"/>
              <a:t>UnstructuredURLLoader</a:t>
            </a:r>
            <a:r>
              <a:rPr lang="en-US"/>
              <a:t> from </a:t>
            </a:r>
            <a:r>
              <a:rPr lang="en-US" err="1"/>
              <a:t>LangChain</a:t>
            </a:r>
            <a:r>
              <a:rPr lang="en-US"/>
              <a:t> extracts website content for embedding and retrieval.</a:t>
            </a:r>
          </a:p>
          <a:p>
            <a:pPr>
              <a:buFont typeface="Arial" panose="020B0604020202020204" pitchFamily="34" charset="0"/>
              <a:buChar char="•"/>
            </a:pPr>
            <a:r>
              <a:rPr lang="en-US"/>
              <a:t>The loaded data undergoes the RAG pipeline to generate contextually relevant answers.</a:t>
            </a:r>
          </a:p>
          <a:p>
            <a:pPr>
              <a:buFont typeface="Arial" panose="020B0604020202020204" pitchFamily="34" charset="0"/>
              <a:buNone/>
            </a:pPr>
            <a:endParaRPr lang="en-US"/>
          </a:p>
          <a:p>
            <a:r>
              <a:rPr lang="en-US" b="1"/>
              <a:t>E-commerce Use Case:</a:t>
            </a:r>
            <a:endParaRPr lang="en-US"/>
          </a:p>
          <a:p>
            <a:pPr>
              <a:buFont typeface="Arial" panose="020B0604020202020204" pitchFamily="34" charset="0"/>
              <a:buChar char="•"/>
            </a:pPr>
            <a:r>
              <a:rPr lang="en-US"/>
              <a:t>If a customer asks about shipping policies, the agent retrieves content directly from the e-commerce website.</a:t>
            </a:r>
          </a:p>
          <a:p>
            <a:pPr>
              <a:buFont typeface="Arial" panose="020B0604020202020204" pitchFamily="34" charset="0"/>
              <a:buChar char="•"/>
            </a:pPr>
            <a:endParaRPr lang="en-US"/>
          </a:p>
          <a:p>
            <a:r>
              <a:rPr lang="en-US" b="1"/>
              <a:t>2. Confluence Integration</a:t>
            </a:r>
            <a:br>
              <a:rPr lang="en-US"/>
            </a:br>
            <a:r>
              <a:rPr lang="en-US"/>
              <a:t>"Integrating Confluence allows querying internal knowledge spaces, such as team manuals or product support documents.“</a:t>
            </a:r>
          </a:p>
          <a:p>
            <a:endParaRPr lang="en-US"/>
          </a:p>
          <a:p>
            <a:r>
              <a:rPr lang="en-US" b="1"/>
              <a:t>Implementation </a:t>
            </a:r>
          </a:p>
          <a:p>
            <a:r>
              <a:rPr lang="en-US" b="1" err="1"/>
              <a:t>ConfluenceLoader</a:t>
            </a:r>
            <a:r>
              <a:rPr lang="en-US"/>
              <a:t> from </a:t>
            </a:r>
            <a:r>
              <a:rPr lang="en-US" err="1"/>
              <a:t>LangChain</a:t>
            </a:r>
            <a:r>
              <a:rPr lang="en-US"/>
              <a:t> fetches data securely after user authentication.</a:t>
            </a:r>
          </a:p>
          <a:p>
            <a:pPr>
              <a:buFont typeface="Arial" panose="020B0604020202020204" pitchFamily="34" charset="0"/>
              <a:buChar char="•"/>
            </a:pPr>
            <a:r>
              <a:rPr lang="en-US"/>
              <a:t>Supports querying pages, blog posts, and other content types.</a:t>
            </a:r>
          </a:p>
          <a:p>
            <a:pPr>
              <a:buFont typeface="Arial" panose="020B0604020202020204" pitchFamily="34" charset="0"/>
              <a:buNone/>
            </a:pPr>
            <a:endParaRPr lang="en-US"/>
          </a:p>
          <a:p>
            <a:r>
              <a:rPr lang="en-US" b="1"/>
              <a:t>E-commerce Use Case:</a:t>
            </a:r>
            <a:endParaRPr lang="en-US"/>
          </a:p>
          <a:p>
            <a:pPr>
              <a:buFont typeface="Arial" panose="020B0604020202020204" pitchFamily="34" charset="0"/>
              <a:buChar char="•"/>
            </a:pPr>
            <a:r>
              <a:rPr lang="en-US"/>
              <a:t>A support agent retrieves troubleshooting guides for a product directly from the company’s Confluence space to assist a customer.</a:t>
            </a:r>
          </a:p>
          <a:p>
            <a:pPr>
              <a:buFont typeface="Arial" panose="020B0604020202020204" pitchFamily="34" charset="0"/>
              <a:buChar char="•"/>
            </a:pPr>
            <a:endParaRPr lang="en-US"/>
          </a:p>
          <a:p>
            <a:r>
              <a:rPr lang="en-US" b="1"/>
              <a:t>Benefits</a:t>
            </a:r>
          </a:p>
          <a:p>
            <a:pPr>
              <a:buFont typeface="+mj-lt"/>
              <a:buAutoNum type="arabicPeriod"/>
            </a:pPr>
            <a:r>
              <a:rPr lang="en-US" b="1"/>
              <a:t>Expanded Knowledge Access</a:t>
            </a:r>
            <a:r>
              <a:rPr lang="en-US"/>
              <a:t>: Retrieves data from multiple sources like websites and internal documents.</a:t>
            </a:r>
          </a:p>
          <a:p>
            <a:pPr>
              <a:buFont typeface="+mj-lt"/>
              <a:buAutoNum type="arabicPeriod"/>
            </a:pPr>
            <a:r>
              <a:rPr lang="en-US" b="1"/>
              <a:t>Contextual Relevance</a:t>
            </a:r>
            <a:r>
              <a:rPr lang="en-US"/>
              <a:t>: Combines external and internal knowledge for precise responses.</a:t>
            </a:r>
          </a:p>
          <a:p>
            <a:pPr>
              <a:buFont typeface="+mj-lt"/>
              <a:buAutoNum type="arabicPeriod"/>
            </a:pPr>
            <a:r>
              <a:rPr lang="en-US" b="1"/>
              <a:t>Improved Support Efficiency</a:t>
            </a:r>
            <a:r>
              <a:rPr lang="en-US"/>
              <a:t>: Speeds up resolutions by accessing comprehensive data.</a:t>
            </a:r>
          </a:p>
        </p:txBody>
      </p:sp>
      <p:sp>
        <p:nvSpPr>
          <p:cNvPr id="4" name="Slide Number Placeholder 3">
            <a:extLst>
              <a:ext uri="{FF2B5EF4-FFF2-40B4-BE49-F238E27FC236}">
                <a16:creationId xmlns:a16="http://schemas.microsoft.com/office/drawing/2014/main" id="{D808D91C-0F50-8ED1-1D48-7298146565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DE2F96-5586-4898-AF1F-86FD73CD7B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5519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Admin Dashboard, a powerful tool for monitoring and managing the performance and resource usage within the system. It provides valuable insights into model usage, user activity, and model performance. </a:t>
            </a:r>
          </a:p>
          <a:p>
            <a:r>
              <a:rPr lang="en-IN" b="1"/>
              <a:t>Key Sections:</a:t>
            </a:r>
          </a:p>
          <a:p>
            <a:r>
              <a:rPr lang="en-IN" b="1"/>
              <a:t>1)Statistics Overview</a:t>
            </a:r>
            <a:r>
              <a:rPr lang="en-IN"/>
              <a:t> section is where we get a high-level view of key metrics. Here, we can see the </a:t>
            </a:r>
            <a:r>
              <a:rPr lang="en-IN" b="1"/>
              <a:t>Credits Used per Model</a:t>
            </a:r>
            <a:r>
              <a:rPr lang="en-IN"/>
              <a:t>, which helps in understanding how much resource each model is consuming. This helps in evaluating model efficiency and cost-effectiveness, allowing admins to make informed decisions.</a:t>
            </a:r>
          </a:p>
          <a:p>
            <a:r>
              <a:rPr lang="en-IN" b="1"/>
              <a:t>2)User Activity</a:t>
            </a:r>
            <a:r>
              <a:rPr lang="en-IN"/>
              <a:t> This part is divided into two key components:</a:t>
            </a:r>
          </a:p>
          <a:p>
            <a:pPr>
              <a:buFont typeface="+mj-lt"/>
              <a:buNone/>
            </a:pPr>
            <a:r>
              <a:rPr lang="en-IN" b="1"/>
              <a:t>a)Top 10 Active Users</a:t>
            </a:r>
            <a:r>
              <a:rPr lang="en-IN"/>
              <a:t>: This list shows the top 10 users based on their credit usage, allowing admins to easily identify the most active users.</a:t>
            </a:r>
          </a:p>
          <a:p>
            <a:pPr>
              <a:buFont typeface="+mj-lt"/>
              <a:buNone/>
            </a:pPr>
            <a:r>
              <a:rPr lang="en-IN" b="1"/>
              <a:t>b)User-wise Credit Usage</a:t>
            </a:r>
            <a:r>
              <a:rPr lang="en-IN"/>
              <a:t>: Here, we get a detailed breakdown of credit usage by individual users, helping admins identify heavy users and allocate resources accordingly</a:t>
            </a:r>
          </a:p>
          <a:p>
            <a:pPr>
              <a:buFont typeface="+mj-lt"/>
              <a:buNone/>
            </a:pPr>
            <a:r>
              <a:rPr lang="en-IN" b="1"/>
              <a:t>3)Model Performance</a:t>
            </a:r>
            <a:r>
              <a:rPr lang="en-IN"/>
              <a:t> section, we track the </a:t>
            </a:r>
            <a:r>
              <a:rPr lang="en-IN" b="1"/>
              <a:t>Credits Used per Model per Day</a:t>
            </a:r>
            <a:r>
              <a:rPr lang="en-IN"/>
              <a:t>. This is represented in a bar graph, offering a visual representation of daily credit consumption across different models. It helps identify usage trends, so admins can predict future credit requirements and optimize model usage.</a:t>
            </a:r>
          </a:p>
          <a:p>
            <a:pPr>
              <a:buFont typeface="+mj-lt"/>
              <a:buNone/>
            </a:pPr>
            <a:endParaRPr lang="en-IN"/>
          </a:p>
          <a:p>
            <a:endParaRPr lang="en-IN"/>
          </a:p>
          <a:p>
            <a:endParaRPr lang="en-US" b="1"/>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DE2F96-5586-4898-AF1F-86FD73CD7B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0367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88662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4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3.png"/><Relationship Id="rId3" Type="http://schemas.openxmlformats.org/officeDocument/2006/relationships/hyperlink" Target="http://www.facebook.com/capgemini" TargetMode="External"/><Relationship Id="rId7" Type="http://schemas.openxmlformats.org/officeDocument/2006/relationships/image" Target="../media/image11.png"/><Relationship Id="rId12" Type="http://schemas.openxmlformats.org/officeDocument/2006/relationships/hyperlink" Target="http://www.youtube.com/capgeminimedia"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www.linkedin.com/company/capgemini" TargetMode="External"/><Relationship Id="rId11" Type="http://schemas.microsoft.com/office/2007/relationships/hdphoto" Target="../media/hdphoto3.wdp"/><Relationship Id="rId5" Type="http://schemas.microsoft.com/office/2007/relationships/hdphoto" Target="../media/hdphoto1.wdp"/><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slideshare.net/capgemini" TargetMode="External"/><Relationship Id="rId14" Type="http://schemas.microsoft.com/office/2007/relationships/hdphoto" Target="../media/hdphoto4.wdp"/></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9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94.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3.png"/><Relationship Id="rId3" Type="http://schemas.openxmlformats.org/officeDocument/2006/relationships/hyperlink" Target="http://www.facebook.com/capgemini" TargetMode="External"/><Relationship Id="rId7" Type="http://schemas.openxmlformats.org/officeDocument/2006/relationships/image" Target="../media/image11.png"/><Relationship Id="rId12" Type="http://schemas.openxmlformats.org/officeDocument/2006/relationships/hyperlink" Target="http://www.youtube.com/capgeminimedia" TargetMode="External"/><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hyperlink" Target="http://www.linkedin.com/company/capgemini" TargetMode="External"/><Relationship Id="rId11" Type="http://schemas.microsoft.com/office/2007/relationships/hdphoto" Target="../media/hdphoto3.wdp"/><Relationship Id="rId5" Type="http://schemas.microsoft.com/office/2007/relationships/hdphoto" Target="../media/hdphoto1.wdp"/><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slideshare.net/capgemini" TargetMode="External"/><Relationship Id="rId14" Type="http://schemas.microsoft.com/office/2007/relationships/hdphoto" Target="../media/hdphoto4.wdp"/></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6749139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a">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Image 3">
            <a:extLst>
              <a:ext uri="{FF2B5EF4-FFF2-40B4-BE49-F238E27FC236}">
                <a16:creationId xmlns:a16="http://schemas.microsoft.com/office/drawing/2014/main" id="{635BD2C3-1CF1-2C4D-754E-091C3266BEA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788737126"/>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76503450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52651036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s slide 3a">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8405267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3b">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56635668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se slide 3c">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318453851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053956"/>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98445007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5a">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spTree>
    <p:extLst>
      <p:ext uri="{BB962C8B-B14F-4D97-AF65-F5344CB8AC3E}">
        <p14:creationId xmlns:p14="http://schemas.microsoft.com/office/powerpoint/2010/main" val="25649436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5b">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26135834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5c">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9391989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40941596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6a">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4287742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6b">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296261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6c">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81286836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14076545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899422662"/>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Dark and Picture">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3778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dark">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2269194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3864794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Pag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4244116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86795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6059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8636000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3950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39151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1957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Content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3392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mpty Gre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9022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picture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0203414"/>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and picture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0324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nd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152814018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picture 4">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460112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Dark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550521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Dark Grey">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14229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426986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and picture dark grey">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75265826"/>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6002225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9163404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and picture dark grey 4">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705957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title Dark gradient">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50301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Capgemini Blue">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454231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nal Slide dar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17" name="Picture 6">
            <a:hlinkClick r:id="rId9"/>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97470849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inal Slide gradient blu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7">
            <a:hlinkClick r:id="rId3"/>
            <a:extLst>
              <a:ext uri="{FF2B5EF4-FFF2-40B4-BE49-F238E27FC236}">
                <a16:creationId xmlns:a16="http://schemas.microsoft.com/office/drawing/2014/main" id="{07109928-A368-8E6C-E810-A3BE3562241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5"/>
            <a:extLst>
              <a:ext uri="{FF2B5EF4-FFF2-40B4-BE49-F238E27FC236}">
                <a16:creationId xmlns:a16="http://schemas.microsoft.com/office/drawing/2014/main" id="{BC7C032C-2D1F-E483-8D4A-586900EE0BAD}"/>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6" name="Picture 4">
            <a:hlinkClick r:id="rId7"/>
            <a:extLst>
              <a:ext uri="{FF2B5EF4-FFF2-40B4-BE49-F238E27FC236}">
                <a16:creationId xmlns:a16="http://schemas.microsoft.com/office/drawing/2014/main" id="{AEBD9D88-5872-54F3-A0E5-7F3AAA4CAE57}"/>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7" name="Picture 6">
            <a:hlinkClick r:id="rId9"/>
            <a:extLst>
              <a:ext uri="{FF2B5EF4-FFF2-40B4-BE49-F238E27FC236}">
                <a16:creationId xmlns:a16="http://schemas.microsoft.com/office/drawing/2014/main" id="{66271E5E-9FCA-435A-BE7E-AA314EB19797}"/>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Tree>
    <p:extLst>
      <p:ext uri="{BB962C8B-B14F-4D97-AF65-F5344CB8AC3E}">
        <p14:creationId xmlns:p14="http://schemas.microsoft.com/office/powerpoint/2010/main" val="654331061"/>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inal Slide gre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tx1"/>
                </a:solidFill>
                <a:latin typeface="+mn-lt"/>
                <a:cs typeface="Arial"/>
              </a:rPr>
              <a:t>Copyright © 2024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14089"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305245" y="5569299"/>
            <a:ext cx="333195" cy="333195"/>
          </a:xfrm>
          <a:prstGeom prst="rect">
            <a:avLst/>
          </a:prstGeom>
          <a:noFill/>
        </p:spPr>
      </p:pic>
      <p:pic>
        <p:nvPicPr>
          <p:cNvPr id="30" name="Picture 6">
            <a:hlinkClick r:id="rId12"/>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640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340140692"/>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E6F7D79-F798-4363-8E9B-6BAAC637D4A4}"/>
              </a:ext>
            </a:extLst>
          </p:cNvPr>
          <p:cNvSpPr>
            <a:spLocks noGrp="1"/>
          </p:cNvSpPr>
          <p:nvPr>
            <p:ph type="pic" sz="quarter" idx="10" hasCustomPrompt="1"/>
          </p:nvPr>
        </p:nvSpPr>
        <p:spPr>
          <a:xfrm>
            <a:off x="0" y="0"/>
            <a:ext cx="12192000" cy="6858000"/>
          </a:xfrm>
        </p:spPr>
        <p:txBody>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de-DE"/>
              <a:t>Insert Picture and send to back</a:t>
            </a:r>
          </a:p>
          <a:p>
            <a:endParaRPr lang="en-US"/>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Graphic 9">
            <a:extLst>
              <a:ext uri="{FF2B5EF4-FFF2-40B4-BE49-F238E27FC236}">
                <a16:creationId xmlns:a16="http://schemas.microsoft.com/office/drawing/2014/main" id="{2EC1376B-6D90-49FF-A3E6-C79ABC9F4F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4050" y="622811"/>
            <a:ext cx="2239484" cy="499636"/>
          </a:xfrm>
          <a:prstGeom prst="rect">
            <a:avLst/>
          </a:prstGeom>
        </p:spPr>
      </p:pic>
    </p:spTree>
    <p:extLst>
      <p:ext uri="{BB962C8B-B14F-4D97-AF65-F5344CB8AC3E}">
        <p14:creationId xmlns:p14="http://schemas.microsoft.com/office/powerpoint/2010/main" val="81029534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Blank - Dark Grey">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17C88DCA-1687-9D3F-510F-DB7805134421}"/>
              </a:ext>
            </a:extLst>
          </p:cNvPr>
          <p:cNvSpPr/>
          <p:nvPr userDrawn="1"/>
        </p:nvSpPr>
        <p:spPr>
          <a:xfrm>
            <a:off x="11791753" y="6517658"/>
            <a:ext cx="229263" cy="215444"/>
          </a:xfrm>
          <a:prstGeom prst="rect">
            <a:avLst/>
          </a:prstGeom>
        </p:spPr>
        <p:txBody>
          <a:bodyPr wrap="square" lIns="0" rIns="0" anchor="ctr" anchorCtr="0">
            <a:spAutoFit/>
          </a:bodyPr>
          <a:lstStyle/>
          <a:p>
            <a:pPr algn="l"/>
            <a:fld id="{0502E5A9-B53C-401E-A0E0-4A359BB0A9E5}" type="slidenum">
              <a:rPr lang="en-US" sz="800" smtClean="0">
                <a:solidFill>
                  <a:srgbClr val="A6A6A6"/>
                </a:solidFill>
                <a:latin typeface="Ubuntu" panose="020B0504030602030204" pitchFamily="34" charset="0"/>
                <a:cs typeface="Arial" panose="020B0604020202020204" pitchFamily="34" charset="0"/>
              </a:rPr>
              <a:pPr algn="l"/>
              <a:t>‹#›</a:t>
            </a:fld>
            <a:endParaRPr lang="en-US" sz="800">
              <a:solidFill>
                <a:srgbClr val="A6A6A6"/>
              </a:solidFill>
              <a:latin typeface="Ubuntu" panose="020B0504030602030204" pitchFamily="34" charset="0"/>
              <a:cs typeface="Arial" panose="020B0604020202020204" pitchFamily="34" charset="0"/>
            </a:endParaRPr>
          </a:p>
        </p:txBody>
      </p:sp>
      <p:sp>
        <p:nvSpPr>
          <p:cNvPr id="7" name="Rectangle 27">
            <a:extLst>
              <a:ext uri="{FF2B5EF4-FFF2-40B4-BE49-F238E27FC236}">
                <a16:creationId xmlns:a16="http://schemas.microsoft.com/office/drawing/2014/main" id="{1E59FAA2-8181-BDD8-824F-A01749096477}"/>
              </a:ext>
            </a:extLst>
          </p:cNvPr>
          <p:cNvSpPr/>
          <p:nvPr userDrawn="1"/>
        </p:nvSpPr>
        <p:spPr>
          <a:xfrm>
            <a:off x="9229693" y="6573738"/>
            <a:ext cx="2529539" cy="107722"/>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grpSp>
        <p:nvGrpSpPr>
          <p:cNvPr id="8" name="Group 7">
            <a:extLst>
              <a:ext uri="{FF2B5EF4-FFF2-40B4-BE49-F238E27FC236}">
                <a16:creationId xmlns:a16="http://schemas.microsoft.com/office/drawing/2014/main" id="{F35FF068-636F-FDE9-F99D-FF2C8F01D60D}"/>
              </a:ext>
            </a:extLst>
          </p:cNvPr>
          <p:cNvGrpSpPr>
            <a:grpSpLocks noChangeAspect="1"/>
          </p:cNvGrpSpPr>
          <p:nvPr userDrawn="1"/>
        </p:nvGrpSpPr>
        <p:grpSpPr>
          <a:xfrm>
            <a:off x="9753998" y="246534"/>
            <a:ext cx="2267018" cy="509586"/>
            <a:chOff x="9550400" y="612775"/>
            <a:chExt cx="2231297" cy="501650"/>
          </a:xfrm>
          <a:solidFill>
            <a:schemeClr val="bg1"/>
          </a:solidFill>
        </p:grpSpPr>
        <p:sp>
          <p:nvSpPr>
            <p:cNvPr id="9" name="Freeform: Shape 8">
              <a:extLst>
                <a:ext uri="{FF2B5EF4-FFF2-40B4-BE49-F238E27FC236}">
                  <a16:creationId xmlns:a16="http://schemas.microsoft.com/office/drawing/2014/main" id="{04BAD855-4C24-DA81-1801-ACD41EA8DA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grp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3C501C08-6771-1D76-A8BF-DD49B8B44D9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BEC51FB6-DA41-76CA-151C-129A49D0FF7F}"/>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07ADD8B-B135-F93F-C7B3-AD675266769C}"/>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1FD4D15-BBB5-B7B0-EDB9-987A0FD642E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grp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44161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and Content dark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ctr" anchorCtr="0"/>
          <a:lstStyle>
            <a:lvl1pPr>
              <a:defRPr sz="2400">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417980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Title and Content dark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4785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269363339"/>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1a">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Image 3">
            <a:extLst>
              <a:ext uri="{FF2B5EF4-FFF2-40B4-BE49-F238E27FC236}">
                <a16:creationId xmlns:a16="http://schemas.microsoft.com/office/drawing/2014/main" id="{635BD2C3-1CF1-2C4D-754E-091C3266BEA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392692254"/>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0195629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2a">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47449095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s slide 3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75980894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3b">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52120127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se slide 3c">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71543524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053956"/>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956916690"/>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spTree>
    <p:extLst>
      <p:ext uri="{BB962C8B-B14F-4D97-AF65-F5344CB8AC3E}">
        <p14:creationId xmlns:p14="http://schemas.microsoft.com/office/powerpoint/2010/main" val="225710314"/>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147629489"/>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4390382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363207451"/>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13666296"/>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31346623"/>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382759903"/>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1333115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396744241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9910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37631839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17957653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ivider Page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24639207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90806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49093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16462178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7138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977693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205744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211123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7127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and picture 1">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851902"/>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and picture 2">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6798477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2630377541"/>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and picture 4">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37233376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40833519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1091211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6596243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and picture dark grey">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275463632"/>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44299520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58262896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69786799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Dark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9062633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ubtitle Capgemini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5365938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17" name="Picture 6">
            <a:hlinkClick r:id="rId9"/>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403574358"/>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Final Slide gradient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7">
            <a:hlinkClick r:id="rId3"/>
            <a:extLst>
              <a:ext uri="{FF2B5EF4-FFF2-40B4-BE49-F238E27FC236}">
                <a16:creationId xmlns:a16="http://schemas.microsoft.com/office/drawing/2014/main" id="{07109928-A368-8E6C-E810-A3BE3562241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5"/>
            <a:extLst>
              <a:ext uri="{FF2B5EF4-FFF2-40B4-BE49-F238E27FC236}">
                <a16:creationId xmlns:a16="http://schemas.microsoft.com/office/drawing/2014/main" id="{BC7C032C-2D1F-E483-8D4A-586900EE0BAD}"/>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6" name="Picture 4">
            <a:hlinkClick r:id="rId7"/>
            <a:extLst>
              <a:ext uri="{FF2B5EF4-FFF2-40B4-BE49-F238E27FC236}">
                <a16:creationId xmlns:a16="http://schemas.microsoft.com/office/drawing/2014/main" id="{AEBD9D88-5872-54F3-A0E5-7F3AAA4CAE57}"/>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7" name="Picture 6">
            <a:hlinkClick r:id="rId9"/>
            <a:extLst>
              <a:ext uri="{FF2B5EF4-FFF2-40B4-BE49-F238E27FC236}">
                <a16:creationId xmlns:a16="http://schemas.microsoft.com/office/drawing/2014/main" id="{66271E5E-9FCA-435A-BE7E-AA314EB19797}"/>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Tree>
    <p:extLst>
      <p:ext uri="{BB962C8B-B14F-4D97-AF65-F5344CB8AC3E}">
        <p14:creationId xmlns:p14="http://schemas.microsoft.com/office/powerpoint/2010/main" val="1568990178"/>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Final Slide grey">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tx1"/>
                </a:solidFill>
                <a:latin typeface="+mn-lt"/>
                <a:cs typeface="Arial"/>
              </a:rPr>
              <a:t>Copyright © 2024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14089"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305245" y="5569299"/>
            <a:ext cx="333195" cy="333195"/>
          </a:xfrm>
          <a:prstGeom prst="rect">
            <a:avLst/>
          </a:prstGeom>
          <a:noFill/>
        </p:spPr>
      </p:pic>
      <p:pic>
        <p:nvPicPr>
          <p:cNvPr id="30" name="Picture 6">
            <a:hlinkClick r:id="rId12"/>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640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562463028"/>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Blank - Dark Grey">
    <p:bg>
      <p:bgPr>
        <a:solidFill>
          <a:schemeClr val="accent4"/>
        </a:soli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4A965C7A-B63C-476C-A4A7-F1DA082B5A6A}"/>
              </a:ext>
            </a:extLst>
          </p:cNvPr>
          <p:cNvGrpSpPr>
            <a:grpSpLocks/>
          </p:cNvGrpSpPr>
          <p:nvPr userDrawn="1"/>
        </p:nvGrpSpPr>
        <p:grpSpPr>
          <a:xfrm>
            <a:off x="11562163" y="207582"/>
            <a:ext cx="419436" cy="388988"/>
            <a:chOff x="5481638" y="2859088"/>
            <a:chExt cx="1231900" cy="1139825"/>
          </a:xfrm>
          <a:solidFill>
            <a:schemeClr val="bg1"/>
          </a:solidFill>
        </p:grpSpPr>
        <p:sp>
          <p:nvSpPr>
            <p:cNvPr id="3" name="Freeform 320">
              <a:extLst>
                <a:ext uri="{FF2B5EF4-FFF2-40B4-BE49-F238E27FC236}">
                  <a16:creationId xmlns:a16="http://schemas.microsoft.com/office/drawing/2014/main" id="{08780755-E109-45E3-9564-937AFC868C9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 name="Freeform 321">
              <a:extLst>
                <a:ext uri="{FF2B5EF4-FFF2-40B4-BE49-F238E27FC236}">
                  <a16:creationId xmlns:a16="http://schemas.microsoft.com/office/drawing/2014/main" id="{0B189194-351B-46D6-A408-2F6B6B57F09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5" name="Footer Slide number">
            <a:extLst>
              <a:ext uri="{FF2B5EF4-FFF2-40B4-BE49-F238E27FC236}">
                <a16:creationId xmlns:a16="http://schemas.microsoft.com/office/drawing/2014/main" id="{CA4932B0-5EDB-11C1-C0EA-1A270DFCC493}"/>
              </a:ext>
            </a:extLst>
          </p:cNvPr>
          <p:cNvSpPr/>
          <p:nvPr userDrawn="1"/>
        </p:nvSpPr>
        <p:spPr>
          <a:xfrm>
            <a:off x="11744128" y="6541977"/>
            <a:ext cx="229263" cy="200055"/>
          </a:xfrm>
          <a:prstGeom prst="rect">
            <a:avLst/>
          </a:prstGeom>
        </p:spPr>
        <p:txBody>
          <a:bodyPr wrap="square" lIns="0" rIns="0">
            <a:spAutoFit/>
          </a:bodyPr>
          <a:lstStyle/>
          <a:p>
            <a:pPr algn="r"/>
            <a:fld id="{0502E5A9-B53C-401E-A0E0-4A359BB0A9E5}" type="slidenum">
              <a:rPr lang="en-US" sz="700" smtClean="0">
                <a:solidFill>
                  <a:srgbClr val="A6A6A6"/>
                </a:solidFill>
                <a:latin typeface="+mn-lt"/>
                <a:cs typeface="Arial" panose="020B0604020202020204" pitchFamily="34" charset="0"/>
              </a:rPr>
              <a:pPr algn="r"/>
              <a:t>‹#›</a:t>
            </a:fld>
            <a:endParaRPr lang="en-US" sz="700">
              <a:solidFill>
                <a:srgbClr val="A6A6A6"/>
              </a:solidFill>
              <a:latin typeface="+mn-lt"/>
              <a:cs typeface="Arial" panose="020B0604020202020204" pitchFamily="34" charset="0"/>
            </a:endParaRPr>
          </a:p>
        </p:txBody>
      </p:sp>
      <p:sp>
        <p:nvSpPr>
          <p:cNvPr id="6" name="Footer Copyright">
            <a:extLst>
              <a:ext uri="{FF2B5EF4-FFF2-40B4-BE49-F238E27FC236}">
                <a16:creationId xmlns:a16="http://schemas.microsoft.com/office/drawing/2014/main" id="{D35ED927-78C1-3D65-791E-7A43547DAE40}"/>
              </a:ext>
            </a:extLst>
          </p:cNvPr>
          <p:cNvSpPr/>
          <p:nvPr userDrawn="1"/>
        </p:nvSpPr>
        <p:spPr>
          <a:xfrm>
            <a:off x="7257892" y="6532276"/>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mn-lt"/>
                <a:cs typeface="Arial" panose="020B0604020202020204" pitchFamily="34" charset="0"/>
              </a:rPr>
              <a:t> Company Confidential © Capgemini 2024. All rights reserved |</a:t>
            </a:r>
          </a:p>
        </p:txBody>
      </p:sp>
      <p:sp>
        <p:nvSpPr>
          <p:cNvPr id="7" name="Footer Copyright">
            <a:extLst>
              <a:ext uri="{FF2B5EF4-FFF2-40B4-BE49-F238E27FC236}">
                <a16:creationId xmlns:a16="http://schemas.microsoft.com/office/drawing/2014/main" id="{1B3E4988-752C-EBE0-809A-6C52F4E634A0}"/>
              </a:ext>
            </a:extLst>
          </p:cNvPr>
          <p:cNvSpPr/>
          <p:nvPr userDrawn="1"/>
        </p:nvSpPr>
        <p:spPr>
          <a:xfrm>
            <a:off x="401946" y="6532276"/>
            <a:ext cx="4532162"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mn-lt"/>
                <a:cs typeface="Arial" panose="020B0604020202020204" pitchFamily="34" charset="0"/>
              </a:rPr>
              <a:t>Generative AI for Software Engineering | Measurement protocol</a:t>
            </a:r>
          </a:p>
        </p:txBody>
      </p:sp>
    </p:spTree>
    <p:extLst>
      <p:ext uri="{BB962C8B-B14F-4D97-AF65-F5344CB8AC3E}">
        <p14:creationId xmlns:p14="http://schemas.microsoft.com/office/powerpoint/2010/main" val="912345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06677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image" Target="../media/image1.png"/><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theme" Target="../theme/theme2.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51"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2358726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18" r:id="rId46"/>
    <p:sldLayoutId id="2147483719" r:id="rId47"/>
    <p:sldLayoutId id="2147483720" r:id="rId48"/>
    <p:sldLayoutId id="2147483721" r:id="rId49"/>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49"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416197575"/>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57" r:id="rId35"/>
    <p:sldLayoutId id="2147483758" r:id="rId36"/>
    <p:sldLayoutId id="2147483759" r:id="rId37"/>
    <p:sldLayoutId id="2147483760" r:id="rId38"/>
    <p:sldLayoutId id="2147483761" r:id="rId39"/>
    <p:sldLayoutId id="2147483762" r:id="rId40"/>
    <p:sldLayoutId id="2147483763" r:id="rId41"/>
    <p:sldLayoutId id="2147483764" r:id="rId42"/>
    <p:sldLayoutId id="2147483765" r:id="rId43"/>
    <p:sldLayoutId id="2147483766" r:id="rId44"/>
    <p:sldLayoutId id="2147483767" r:id="rId45"/>
    <p:sldLayoutId id="2147483768" r:id="rId46"/>
    <p:sldLayoutId id="2147483769" r:id="rId47"/>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4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person's eye">
            <a:extLst>
              <a:ext uri="{FF2B5EF4-FFF2-40B4-BE49-F238E27FC236}">
                <a16:creationId xmlns:a16="http://schemas.microsoft.com/office/drawing/2014/main" id="{D666B677-1F70-A9DA-76C5-6EEB94CBCA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823" b="11824"/>
          <a:stretch/>
        </p:blipFill>
        <p:spPr>
          <a:xfrm>
            <a:off x="0" y="0"/>
            <a:ext cx="12192000" cy="6858000"/>
          </a:xfrm>
          <a:prstGeom prst="rect">
            <a:avLst/>
          </a:prstGeom>
        </p:spPr>
      </p:pic>
      <p:sp>
        <p:nvSpPr>
          <p:cNvPr id="22" name="Rectangle 21">
            <a:extLst>
              <a:ext uri="{FF2B5EF4-FFF2-40B4-BE49-F238E27FC236}">
                <a16:creationId xmlns:a16="http://schemas.microsoft.com/office/drawing/2014/main" id="{67B76C8D-47BB-8EF6-E421-F03820FCA273}"/>
              </a:ext>
            </a:extLst>
          </p:cNvPr>
          <p:cNvSpPr/>
          <p:nvPr/>
        </p:nvSpPr>
        <p:spPr>
          <a:xfrm>
            <a:off x="0" y="9832"/>
            <a:ext cx="12192001" cy="6858000"/>
          </a:xfrm>
          <a:prstGeom prst="rect">
            <a:avLst/>
          </a:prstGeom>
          <a:gradFill>
            <a:gsLst>
              <a:gs pos="33000">
                <a:srgbClr val="121319">
                  <a:alpha val="0"/>
                </a:srgbClr>
              </a:gs>
              <a:gs pos="0">
                <a:schemeClr val="tx1">
                  <a:alpha val="29000"/>
                </a:schemeClr>
              </a:gs>
              <a:gs pos="96000">
                <a:srgbClr val="272936">
                  <a:alpha val="6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Ubuntu"/>
              <a:ea typeface="+mn-ea"/>
              <a:cs typeface="+mn-cs"/>
            </a:endParaRPr>
          </a:p>
        </p:txBody>
      </p:sp>
      <p:grpSp>
        <p:nvGrpSpPr>
          <p:cNvPr id="6" name="Group 5">
            <a:extLst>
              <a:ext uri="{FF2B5EF4-FFF2-40B4-BE49-F238E27FC236}">
                <a16:creationId xmlns:a16="http://schemas.microsoft.com/office/drawing/2014/main" id="{F09EF106-62EE-2BA8-7B5B-C03F8F0B43DE}"/>
              </a:ext>
            </a:extLst>
          </p:cNvPr>
          <p:cNvGrpSpPr>
            <a:grpSpLocks noChangeAspect="1"/>
          </p:cNvGrpSpPr>
          <p:nvPr/>
        </p:nvGrpSpPr>
        <p:grpSpPr>
          <a:xfrm>
            <a:off x="9422553" y="611981"/>
            <a:ext cx="2267018" cy="509586"/>
            <a:chOff x="9550400" y="612775"/>
            <a:chExt cx="2231297" cy="501650"/>
          </a:xfrm>
          <a:solidFill>
            <a:schemeClr val="bg1"/>
          </a:solidFill>
        </p:grpSpPr>
        <p:sp>
          <p:nvSpPr>
            <p:cNvPr id="7" name="Freeform: Shape 6">
              <a:extLst>
                <a:ext uri="{FF2B5EF4-FFF2-40B4-BE49-F238E27FC236}">
                  <a16:creationId xmlns:a16="http://schemas.microsoft.com/office/drawing/2014/main" id="{15AB8AE9-73A4-4BA6-50FA-AD8E456DCDB5}"/>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grpFill/>
            <a:ln w="9525"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sp>
          <p:nvSpPr>
            <p:cNvPr id="8" name="Freeform: Shape 7">
              <a:extLst>
                <a:ext uri="{FF2B5EF4-FFF2-40B4-BE49-F238E27FC236}">
                  <a16:creationId xmlns:a16="http://schemas.microsoft.com/office/drawing/2014/main" id="{A4D35C33-A153-3E36-0667-4BBA4DC6778A}"/>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sp>
          <p:nvSpPr>
            <p:cNvPr id="9" name="Freeform: Shape 8">
              <a:extLst>
                <a:ext uri="{FF2B5EF4-FFF2-40B4-BE49-F238E27FC236}">
                  <a16:creationId xmlns:a16="http://schemas.microsoft.com/office/drawing/2014/main" id="{0ABABA1E-505C-F833-A58D-3263A17FABB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sp>
          <p:nvSpPr>
            <p:cNvPr id="10" name="Freeform: Shape 9">
              <a:extLst>
                <a:ext uri="{FF2B5EF4-FFF2-40B4-BE49-F238E27FC236}">
                  <a16:creationId xmlns:a16="http://schemas.microsoft.com/office/drawing/2014/main" id="{E8D89E3B-F0F8-066B-3FEC-5F7EC08933E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Freeform: Shape 10">
              <a:extLst>
                <a:ext uri="{FF2B5EF4-FFF2-40B4-BE49-F238E27FC236}">
                  <a16:creationId xmlns:a16="http://schemas.microsoft.com/office/drawing/2014/main" id="{880A888D-AF01-7CE2-1D48-3895E5BE7B10}"/>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grpFill/>
            <a:ln w="9525"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grpSp>
      <p:pic>
        <p:nvPicPr>
          <p:cNvPr id="27" name="Picture 26">
            <a:extLst>
              <a:ext uri="{FF2B5EF4-FFF2-40B4-BE49-F238E27FC236}">
                <a16:creationId xmlns:a16="http://schemas.microsoft.com/office/drawing/2014/main" id="{1F918314-209B-C682-4536-929BA12460A1}"/>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8145" y="-45752"/>
            <a:ext cx="654359" cy="3096097"/>
          </a:xfrm>
          <a:prstGeom prst="rect">
            <a:avLst/>
          </a:prstGeom>
        </p:spPr>
      </p:pic>
      <p:pic>
        <p:nvPicPr>
          <p:cNvPr id="28" name="Picture 27" descr="A picture containing shape&#10;&#10;Description automatically generated">
            <a:extLst>
              <a:ext uri="{FF2B5EF4-FFF2-40B4-BE49-F238E27FC236}">
                <a16:creationId xmlns:a16="http://schemas.microsoft.com/office/drawing/2014/main" id="{DE949792-8003-650D-8182-7561F7D98C86}"/>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616214" y="1155920"/>
            <a:ext cx="1767503" cy="1900298"/>
          </a:xfrm>
          <a:prstGeom prst="rect">
            <a:avLst/>
          </a:prstGeom>
        </p:spPr>
      </p:pic>
      <p:pic>
        <p:nvPicPr>
          <p:cNvPr id="40" name="Picture 39" descr="A picture containing venn diagram&#10;&#10;Description automatically generated">
            <a:extLst>
              <a:ext uri="{FF2B5EF4-FFF2-40B4-BE49-F238E27FC236}">
                <a16:creationId xmlns:a16="http://schemas.microsoft.com/office/drawing/2014/main" id="{29958377-86EE-22F4-52E1-B4B808035AB9}"/>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a:fillRect/>
          </a:stretch>
        </p:blipFill>
        <p:spPr>
          <a:xfrm>
            <a:off x="2384562" y="1153881"/>
            <a:ext cx="2913782" cy="6314040"/>
          </a:xfrm>
          <a:custGeom>
            <a:avLst/>
            <a:gdLst>
              <a:gd name="connsiteX0" fmla="*/ 0 w 2913782"/>
              <a:gd name="connsiteY0" fmla="*/ 0 h 6314040"/>
              <a:gd name="connsiteX1" fmla="*/ 2913782 w 2913782"/>
              <a:gd name="connsiteY1" fmla="*/ 0 h 6314040"/>
              <a:gd name="connsiteX2" fmla="*/ 2913782 w 2913782"/>
              <a:gd name="connsiteY2" fmla="*/ 1857124 h 6314040"/>
              <a:gd name="connsiteX3" fmla="*/ 2884350 w 2913782"/>
              <a:gd name="connsiteY3" fmla="*/ 1842846 h 6314040"/>
              <a:gd name="connsiteX4" fmla="*/ 2396994 w 2913782"/>
              <a:gd name="connsiteY4" fmla="*/ 1836867 h 6314040"/>
              <a:gd name="connsiteX5" fmla="*/ 1911714 w 2913782"/>
              <a:gd name="connsiteY5" fmla="*/ 2505060 h 6314040"/>
              <a:gd name="connsiteX6" fmla="*/ 2308831 w 2913782"/>
              <a:gd name="connsiteY6" fmla="*/ 2818157 h 6314040"/>
              <a:gd name="connsiteX7" fmla="*/ 2396212 w 2913782"/>
              <a:gd name="connsiteY7" fmla="*/ 2826796 h 6314040"/>
              <a:gd name="connsiteX8" fmla="*/ 2379574 w 2913782"/>
              <a:gd name="connsiteY8" fmla="*/ 2840081 h 6314040"/>
              <a:gd name="connsiteX9" fmla="*/ 2257947 w 2913782"/>
              <a:gd name="connsiteY9" fmla="*/ 3170282 h 6314040"/>
              <a:gd name="connsiteX10" fmla="*/ 2846305 w 2913782"/>
              <a:gd name="connsiteY10" fmla="*/ 3310028 h 6314040"/>
              <a:gd name="connsiteX11" fmla="*/ 2913782 w 2913782"/>
              <a:gd name="connsiteY11" fmla="*/ 3281273 h 6314040"/>
              <a:gd name="connsiteX12" fmla="*/ 2913782 w 2913782"/>
              <a:gd name="connsiteY12" fmla="*/ 6314040 h 6314040"/>
              <a:gd name="connsiteX13" fmla="*/ 0 w 2913782"/>
              <a:gd name="connsiteY13" fmla="*/ 6314040 h 631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13782" h="6314040">
                <a:moveTo>
                  <a:pt x="0" y="0"/>
                </a:moveTo>
                <a:lnTo>
                  <a:pt x="2913782" y="0"/>
                </a:lnTo>
                <a:lnTo>
                  <a:pt x="2913782" y="1857124"/>
                </a:lnTo>
                <a:lnTo>
                  <a:pt x="2884350" y="1842846"/>
                </a:lnTo>
                <a:cubicBezTo>
                  <a:pt x="2744337" y="1790596"/>
                  <a:pt x="2570823" y="1784475"/>
                  <a:pt x="2396994" y="1836867"/>
                </a:cubicBezTo>
                <a:cubicBezTo>
                  <a:pt x="2049337" y="1941653"/>
                  <a:pt x="1832069" y="2240813"/>
                  <a:pt x="1911714" y="2505060"/>
                </a:cubicBezTo>
                <a:cubicBezTo>
                  <a:pt x="1961492" y="2670214"/>
                  <a:pt x="2115470" y="2782643"/>
                  <a:pt x="2308831" y="2818157"/>
                </a:cubicBezTo>
                <a:lnTo>
                  <a:pt x="2396212" y="2826796"/>
                </a:lnTo>
                <a:lnTo>
                  <a:pt x="2379574" y="2840081"/>
                </a:lnTo>
                <a:cubicBezTo>
                  <a:pt x="2271418" y="2940405"/>
                  <a:pt x="2220504" y="3063799"/>
                  <a:pt x="2257947" y="3170282"/>
                </a:cubicBezTo>
                <a:cubicBezTo>
                  <a:pt x="2317856" y="3340656"/>
                  <a:pt x="2581273" y="3403222"/>
                  <a:pt x="2846305" y="3310028"/>
                </a:cubicBezTo>
                <a:lnTo>
                  <a:pt x="2913782" y="3281273"/>
                </a:lnTo>
                <a:lnTo>
                  <a:pt x="2913782" y="6314040"/>
                </a:lnTo>
                <a:lnTo>
                  <a:pt x="0" y="6314040"/>
                </a:lnTo>
                <a:close/>
              </a:path>
            </a:pathLst>
          </a:custGeom>
        </p:spPr>
      </p:pic>
      <p:sp>
        <p:nvSpPr>
          <p:cNvPr id="4" name="Title 3">
            <a:extLst>
              <a:ext uri="{FF2B5EF4-FFF2-40B4-BE49-F238E27FC236}">
                <a16:creationId xmlns:a16="http://schemas.microsoft.com/office/drawing/2014/main" id="{72E17076-991C-431A-9B77-E8363D54BDC9}"/>
              </a:ext>
            </a:extLst>
          </p:cNvPr>
          <p:cNvSpPr txBox="1">
            <a:spLocks/>
          </p:cNvSpPr>
          <p:nvPr/>
        </p:nvSpPr>
        <p:spPr>
          <a:xfrm>
            <a:off x="711040" y="4191357"/>
            <a:ext cx="11386134" cy="1218795"/>
          </a:xfrm>
          <a:prstGeom prst="rect">
            <a:avLst/>
          </a:prstGeom>
        </p:spPr>
        <p:txBody>
          <a:bodyPr vert="horz" wrap="square" lIns="36000" tIns="0" rIns="36000" bIns="0" rtlCol="0" anchor="b" anchorCtr="0">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6000" b="1" i="0" u="none" strike="noStrike" kern="1200" cap="all" spc="0" normalizeH="0" baseline="0" noProof="0">
                <a:ln>
                  <a:noFill/>
                </a:ln>
                <a:solidFill>
                  <a:schemeClr val="bg1"/>
                </a:solidFill>
                <a:effectLst/>
                <a:uLnTx/>
                <a:uFillTx/>
                <a:latin typeface="Ubuntu" panose="020B0504030602030204" pitchFamily="34" charset="0"/>
                <a:ea typeface="+mj-ea"/>
                <a:cs typeface="+mj-cs"/>
              </a:defRPr>
            </a:lvl1pPr>
          </a:lstStyle>
          <a:p>
            <a:pPr algn="r">
              <a:defRPr/>
            </a:pPr>
            <a:r>
              <a:rPr lang="en-GB" sz="4400">
                <a:solidFill>
                  <a:srgbClr val="FFFFFF"/>
                </a:solidFill>
              </a:rPr>
              <a:t>Code Fixing</a:t>
            </a:r>
            <a:endParaRPr lang="en-US" sz="4400" b="0">
              <a:solidFill>
                <a:srgbClr val="000000"/>
              </a:solidFill>
            </a:endParaRPr>
          </a:p>
          <a:p>
            <a:pPr algn="r">
              <a:defRPr/>
            </a:pPr>
            <a:r>
              <a:rPr lang="en-GB" sz="4400">
                <a:solidFill>
                  <a:srgbClr val="FFFFFF"/>
                </a:solidFill>
              </a:rPr>
              <a:t>Using Copilot</a:t>
            </a:r>
            <a:endParaRPr lang="en-US"/>
          </a:p>
        </p:txBody>
      </p:sp>
      <p:pic>
        <p:nvPicPr>
          <p:cNvPr id="12" name="Picture 11" descr="Logo&#10;&#10;Description automatically generated">
            <a:extLst>
              <a:ext uri="{FF2B5EF4-FFF2-40B4-BE49-F238E27FC236}">
                <a16:creationId xmlns:a16="http://schemas.microsoft.com/office/drawing/2014/main" id="{07497265-9E87-C89B-0E67-8A9EEF9327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8741" y="5188327"/>
            <a:ext cx="2968307" cy="1669673"/>
          </a:xfrm>
          <a:prstGeom prst="rect">
            <a:avLst/>
          </a:prstGeom>
        </p:spPr>
      </p:pic>
    </p:spTree>
    <p:extLst>
      <p:ext uri="{BB962C8B-B14F-4D97-AF65-F5344CB8AC3E}">
        <p14:creationId xmlns:p14="http://schemas.microsoft.com/office/powerpoint/2010/main" val="1663957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DC94E-FCF8-05E5-E13B-2EF1EA970FBD}"/>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04F03BD9-51EF-4143-9656-774072A8390B}"/>
              </a:ext>
            </a:extLst>
          </p:cNvPr>
          <p:cNvSpPr txBox="1">
            <a:spLocks/>
          </p:cNvSpPr>
          <p:nvPr/>
        </p:nvSpPr>
        <p:spPr>
          <a:xfrm>
            <a:off x="561870" y="-1805152"/>
            <a:ext cx="10698946" cy="2715029"/>
          </a:xfrm>
          <a:prstGeom prst="rect">
            <a:avLst/>
          </a:prstGeom>
        </p:spPr>
        <p:txBody>
          <a:bodyPr vert="horz" lIns="0" tIns="0" rIns="0" bIns="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R="0" lvl="0" algn="l" defTabSz="914400" rtl="0" eaLnBrk="1" fontAlgn="auto" latinLnBrk="0" hangingPunct="1">
              <a:lnSpc>
                <a:spcPct val="107000"/>
              </a:lnSpc>
              <a:spcBef>
                <a:spcPct val="0"/>
              </a:spcBef>
              <a:spcAft>
                <a:spcPts val="800"/>
              </a:spcAft>
              <a:buClrTx/>
              <a:buSzTx/>
              <a:tabLst/>
              <a:defRPr/>
            </a:pPr>
            <a:endParaRPr kumimoji="0" lang="en-US" sz="1100" b="1" i="0" u="none" strike="noStrike" kern="1200" cap="none" spc="0" normalizeH="0" baseline="0" noProof="0">
              <a:ln>
                <a:noFill/>
              </a:ln>
              <a:solidFill>
                <a:srgbClr val="FFFFFF"/>
              </a:solidFill>
              <a:effectLst/>
              <a:uLnTx/>
              <a:uFillTx/>
              <a:latin typeface="Ubuntu"/>
              <a:ea typeface="+mj-ea"/>
              <a:cs typeface="+mj-cs"/>
            </a:endParaRPr>
          </a:p>
        </p:txBody>
      </p:sp>
      <p:pic>
        <p:nvPicPr>
          <p:cNvPr id="10" name="Picture 9" descr="A yellow circle with blue text&#10;&#10;Description automatically generated">
            <a:extLst>
              <a:ext uri="{FF2B5EF4-FFF2-40B4-BE49-F238E27FC236}">
                <a16:creationId xmlns:a16="http://schemas.microsoft.com/office/drawing/2014/main" id="{7846C1C5-B896-9A83-4E11-F8BD0E4CFF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28943" y="101457"/>
            <a:ext cx="719455" cy="719455"/>
          </a:xfrm>
          <a:prstGeom prst="rect">
            <a:avLst/>
          </a:prstGeom>
        </p:spPr>
      </p:pic>
      <p:sp>
        <p:nvSpPr>
          <p:cNvPr id="11" name="TextBox 10">
            <a:extLst>
              <a:ext uri="{FF2B5EF4-FFF2-40B4-BE49-F238E27FC236}">
                <a16:creationId xmlns:a16="http://schemas.microsoft.com/office/drawing/2014/main" id="{E241652D-B33D-70B5-E363-ADFF048CF466}"/>
              </a:ext>
            </a:extLst>
          </p:cNvPr>
          <p:cNvSpPr txBox="1"/>
          <p:nvPr/>
        </p:nvSpPr>
        <p:spPr>
          <a:xfrm>
            <a:off x="372839" y="259373"/>
            <a:ext cx="4586651" cy="461665"/>
          </a:xfrm>
          <a:prstGeom prst="rect">
            <a:avLst/>
          </a:prstGeom>
          <a:noFill/>
        </p:spPr>
        <p:txBody>
          <a:bodyPr wrap="square" lIns="91440" tIns="45720" rIns="91440" bIns="45720" anchor="t">
            <a:spAutoFit/>
          </a:bodyPr>
          <a:lstStyle/>
          <a:p>
            <a:r>
              <a:rPr lang="en-US" sz="2400" b="1">
                <a:solidFill>
                  <a:schemeClr val="accent1">
                    <a:lumMod val="60000"/>
                    <a:lumOff val="40000"/>
                  </a:schemeClr>
                </a:solidFill>
              </a:rPr>
              <a:t>Code Fixing Using Copilot</a:t>
            </a:r>
          </a:p>
        </p:txBody>
      </p:sp>
      <p:sp>
        <p:nvSpPr>
          <p:cNvPr id="4" name="TextBox 3">
            <a:extLst>
              <a:ext uri="{FF2B5EF4-FFF2-40B4-BE49-F238E27FC236}">
                <a16:creationId xmlns:a16="http://schemas.microsoft.com/office/drawing/2014/main" id="{76623062-759A-A9D5-A5F9-B8D55B932E0B}"/>
              </a:ext>
            </a:extLst>
          </p:cNvPr>
          <p:cNvSpPr txBox="1"/>
          <p:nvPr/>
        </p:nvSpPr>
        <p:spPr>
          <a:xfrm>
            <a:off x="372839" y="850525"/>
            <a:ext cx="11148624" cy="738664"/>
          </a:xfrm>
          <a:prstGeom prst="rect">
            <a:avLst/>
          </a:prstGeom>
          <a:noFill/>
        </p:spPr>
        <p:txBody>
          <a:bodyPr wrap="square">
            <a:spAutoFit/>
          </a:bodyPr>
          <a:lstStyle/>
          <a:p>
            <a:r>
              <a:rPr lang="en-US" sz="1400" b="0" i="0">
                <a:solidFill>
                  <a:schemeClr val="bg1"/>
                </a:solidFill>
                <a:effectLst/>
                <a:latin typeface="Segoe UI" panose="020B0502040204020203" pitchFamily="34" charset="0"/>
              </a:rPr>
              <a:t>Recommendations from AI tools that help you identify and correct errors in your code. They enhance code quality by detecting bugs, optimizing performance, and ensuring best practices. Using these suggestions can save time and improve the overall efficiency of your development process</a:t>
            </a:r>
            <a:endParaRPr lang="en-IN" sz="1400" b="1">
              <a:solidFill>
                <a:schemeClr val="bg1"/>
              </a:solidFill>
            </a:endParaRPr>
          </a:p>
        </p:txBody>
      </p:sp>
      <p:sp>
        <p:nvSpPr>
          <p:cNvPr id="3" name="Rectangle: Rounded Corners 2">
            <a:extLst>
              <a:ext uri="{FF2B5EF4-FFF2-40B4-BE49-F238E27FC236}">
                <a16:creationId xmlns:a16="http://schemas.microsoft.com/office/drawing/2014/main" id="{E562C50F-AAC5-B535-3359-74F5CAE2F654}"/>
              </a:ext>
            </a:extLst>
          </p:cNvPr>
          <p:cNvSpPr/>
          <p:nvPr/>
        </p:nvSpPr>
        <p:spPr>
          <a:xfrm>
            <a:off x="323904" y="1900453"/>
            <a:ext cx="11544192" cy="2533895"/>
          </a:xfrm>
          <a:prstGeom prst="roundRect">
            <a:avLst>
              <a:gd name="adj" fmla="val 7706"/>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21" name="TextBox 20">
            <a:extLst>
              <a:ext uri="{FF2B5EF4-FFF2-40B4-BE49-F238E27FC236}">
                <a16:creationId xmlns:a16="http://schemas.microsoft.com/office/drawing/2014/main" id="{4ACAC1C9-4228-C5CC-644E-ACBB2899A87A}"/>
              </a:ext>
            </a:extLst>
          </p:cNvPr>
          <p:cNvSpPr txBox="1"/>
          <p:nvPr/>
        </p:nvSpPr>
        <p:spPr>
          <a:xfrm>
            <a:off x="323904" y="1913358"/>
            <a:ext cx="11544192" cy="715089"/>
          </a:xfrm>
          <a:prstGeom prst="roundRect">
            <a:avLst/>
          </a:prstGeom>
          <a:solidFill>
            <a:srgbClr val="0070AD"/>
          </a:solidFill>
        </p:spPr>
        <p:txBody>
          <a:bodyPr wrap="square">
            <a:spAutoFit/>
          </a:bodyPr>
          <a:lstStyle/>
          <a:p>
            <a:pPr algn="ctr"/>
            <a:r>
              <a:rPr lang="en-US" b="1" i="0">
                <a:solidFill>
                  <a:schemeClr val="bg1"/>
                </a:solidFill>
                <a:effectLst/>
                <a:latin typeface="Segoe Sans"/>
              </a:rPr>
              <a:t>Why Use </a:t>
            </a:r>
            <a:r>
              <a:rPr lang="en-US" b="1">
                <a:solidFill>
                  <a:schemeClr val="bg1"/>
                </a:solidFill>
                <a:latin typeface="Segoe Sans"/>
              </a:rPr>
              <a:t>Code Fixing</a:t>
            </a:r>
            <a:r>
              <a:rPr lang="en-US" b="1" i="0">
                <a:solidFill>
                  <a:schemeClr val="bg1"/>
                </a:solidFill>
                <a:effectLst/>
                <a:latin typeface="Segoe Sans"/>
              </a:rPr>
              <a:t>?</a:t>
            </a:r>
          </a:p>
          <a:p>
            <a:pPr algn="ctr"/>
            <a:endParaRPr lang="en-IN">
              <a:solidFill>
                <a:schemeClr val="bg1"/>
              </a:solidFill>
            </a:endParaRPr>
          </a:p>
        </p:txBody>
      </p:sp>
      <p:sp>
        <p:nvSpPr>
          <p:cNvPr id="24" name="TextBox 23">
            <a:extLst>
              <a:ext uri="{FF2B5EF4-FFF2-40B4-BE49-F238E27FC236}">
                <a16:creationId xmlns:a16="http://schemas.microsoft.com/office/drawing/2014/main" id="{669E9077-BB8D-879A-7558-BC0BF73D1931}"/>
              </a:ext>
            </a:extLst>
          </p:cNvPr>
          <p:cNvSpPr txBox="1"/>
          <p:nvPr/>
        </p:nvSpPr>
        <p:spPr>
          <a:xfrm>
            <a:off x="561870" y="2480564"/>
            <a:ext cx="11020530" cy="2698175"/>
          </a:xfrm>
          <a:prstGeom prst="rect">
            <a:avLst/>
          </a:prstGeom>
          <a:noFill/>
        </p:spPr>
        <p:txBody>
          <a:bodyPr wrap="square" lIns="91440" tIns="45720" rIns="91440" bIns="45720" anchor="t">
            <a:spAutoFit/>
          </a:bodyPr>
          <a:lstStyle/>
          <a:p>
            <a:pPr marL="285750" indent="-285750">
              <a:buFont typeface="Wingdings" panose="05000000000000000000" pitchFamily="2" charset="2"/>
              <a:buChar char="§"/>
            </a:pPr>
            <a:endParaRPr lang="en-IN" sz="1400" b="1" i="0">
              <a:solidFill>
                <a:schemeClr val="bg1"/>
              </a:solidFill>
              <a:effectLst/>
              <a:latin typeface="Segoe Sans"/>
            </a:endParaRPr>
          </a:p>
          <a:p>
            <a:pPr algn="l">
              <a:spcBef>
                <a:spcPts val="750"/>
              </a:spcBef>
              <a:spcAft>
                <a:spcPts val="750"/>
              </a:spcAft>
              <a:buFont typeface="Arial" panose="020B0604020202020204" pitchFamily="34" charset="0"/>
              <a:buChar char="•"/>
            </a:pPr>
            <a:r>
              <a:rPr lang="en-US" sz="1500" b="1" i="0">
                <a:solidFill>
                  <a:schemeClr val="accent1">
                    <a:lumMod val="60000"/>
                    <a:lumOff val="40000"/>
                  </a:schemeClr>
                </a:solidFill>
                <a:effectLst/>
                <a:latin typeface="Segoe UI"/>
                <a:cs typeface="Segoe UI"/>
              </a:rPr>
              <a:t>Quick Error Detection</a:t>
            </a:r>
            <a:r>
              <a:rPr lang="en-US" sz="1500" b="0" i="0">
                <a:solidFill>
                  <a:schemeClr val="accent1">
                    <a:lumMod val="60000"/>
                    <a:lumOff val="40000"/>
                  </a:schemeClr>
                </a:solidFill>
                <a:effectLst/>
                <a:latin typeface="Segoe UI"/>
                <a:cs typeface="Segoe UI"/>
              </a:rPr>
              <a:t>: </a:t>
            </a:r>
            <a:r>
              <a:rPr lang="en-US" sz="1400" b="1" i="0">
                <a:solidFill>
                  <a:schemeClr val="bg1"/>
                </a:solidFill>
                <a:effectLst/>
                <a:latin typeface="Segoe UI"/>
                <a:cs typeface="Segoe UI"/>
              </a:rPr>
              <a:t>Identifies and fixes common programming errors</a:t>
            </a:r>
            <a:r>
              <a:rPr lang="en-US" sz="1400" b="0" i="0">
                <a:solidFill>
                  <a:schemeClr val="bg1"/>
                </a:solidFill>
                <a:effectLst/>
                <a:latin typeface="Segoe UI"/>
                <a:cs typeface="Segoe UI"/>
              </a:rPr>
              <a:t> swiftly, saving you time and effort.</a:t>
            </a:r>
          </a:p>
          <a:p>
            <a:pPr algn="l">
              <a:spcBef>
                <a:spcPts val="750"/>
              </a:spcBef>
              <a:spcAft>
                <a:spcPts val="750"/>
              </a:spcAft>
              <a:buFont typeface="Arial" panose="020B0604020202020204" pitchFamily="34" charset="0"/>
              <a:buChar char="•"/>
            </a:pPr>
            <a:r>
              <a:rPr lang="en-US" sz="1500" b="1" i="0">
                <a:solidFill>
                  <a:schemeClr val="accent1">
                    <a:lumMod val="60000"/>
                    <a:lumOff val="40000"/>
                  </a:schemeClr>
                </a:solidFill>
                <a:effectLst/>
                <a:latin typeface="Segoe UI"/>
                <a:cs typeface="Segoe UI"/>
              </a:rPr>
              <a:t>Performance Optimization</a:t>
            </a:r>
            <a:r>
              <a:rPr lang="en-US" sz="1500" b="0" i="0">
                <a:solidFill>
                  <a:schemeClr val="accent1">
                    <a:lumMod val="60000"/>
                    <a:lumOff val="40000"/>
                  </a:schemeClr>
                </a:solidFill>
                <a:effectLst/>
                <a:latin typeface="Segoe UI"/>
                <a:cs typeface="Segoe UI"/>
              </a:rPr>
              <a:t>: </a:t>
            </a:r>
            <a:r>
              <a:rPr lang="en-US" sz="1400" b="1" i="0">
                <a:solidFill>
                  <a:schemeClr val="bg1"/>
                </a:solidFill>
                <a:effectLst/>
                <a:latin typeface="Segoe UI"/>
                <a:cs typeface="Segoe UI"/>
              </a:rPr>
              <a:t>Enhances code performance</a:t>
            </a:r>
            <a:r>
              <a:rPr lang="en-US" sz="1400" b="0" i="0">
                <a:solidFill>
                  <a:schemeClr val="bg1"/>
                </a:solidFill>
                <a:effectLst/>
                <a:latin typeface="Segoe UI"/>
                <a:cs typeface="Segoe UI"/>
              </a:rPr>
              <a:t> by recommending efficient coding practices.</a:t>
            </a:r>
          </a:p>
          <a:p>
            <a:pPr algn="l">
              <a:spcBef>
                <a:spcPts val="750"/>
              </a:spcBef>
              <a:spcAft>
                <a:spcPts val="750"/>
              </a:spcAft>
              <a:buFont typeface="Arial" panose="020B0604020202020204" pitchFamily="34" charset="0"/>
              <a:buChar char="•"/>
            </a:pPr>
            <a:r>
              <a:rPr lang="en-US" sz="1500" b="1" i="0">
                <a:solidFill>
                  <a:schemeClr val="accent1">
                    <a:lumMod val="60000"/>
                    <a:lumOff val="40000"/>
                  </a:schemeClr>
                </a:solidFill>
                <a:effectLst/>
                <a:latin typeface="Segoe UI"/>
                <a:cs typeface="Segoe UI"/>
              </a:rPr>
              <a:t>Adherence to Best Practices</a:t>
            </a:r>
            <a:r>
              <a:rPr lang="en-US" sz="1500" b="0" i="0">
                <a:solidFill>
                  <a:schemeClr val="accent1">
                    <a:lumMod val="60000"/>
                    <a:lumOff val="40000"/>
                  </a:schemeClr>
                </a:solidFill>
                <a:effectLst/>
                <a:latin typeface="Segoe UI"/>
                <a:cs typeface="Segoe UI"/>
              </a:rPr>
              <a:t>: </a:t>
            </a:r>
            <a:r>
              <a:rPr lang="en-US" sz="1400" b="1" i="0">
                <a:solidFill>
                  <a:schemeClr val="bg1"/>
                </a:solidFill>
                <a:effectLst/>
                <a:latin typeface="Segoe UI"/>
                <a:cs typeface="Segoe UI"/>
              </a:rPr>
              <a:t>Ensures your code follows industry standards</a:t>
            </a:r>
            <a:r>
              <a:rPr lang="en-US" sz="1400" b="0" i="0">
                <a:solidFill>
                  <a:schemeClr val="bg1"/>
                </a:solidFill>
                <a:effectLst/>
                <a:latin typeface="Segoe UI"/>
                <a:cs typeface="Segoe UI"/>
              </a:rPr>
              <a:t>, improving overall quality.</a:t>
            </a:r>
          </a:p>
          <a:p>
            <a:pPr algn="l">
              <a:spcBef>
                <a:spcPts val="750"/>
              </a:spcBef>
              <a:spcAft>
                <a:spcPts val="750"/>
              </a:spcAft>
              <a:buFont typeface="Arial" panose="020B0604020202020204" pitchFamily="34" charset="0"/>
              <a:buChar char="•"/>
            </a:pPr>
            <a:r>
              <a:rPr lang="en-US" sz="1500" b="1" i="0">
                <a:solidFill>
                  <a:schemeClr val="accent1">
                    <a:lumMod val="60000"/>
                    <a:lumOff val="40000"/>
                  </a:schemeClr>
                </a:solidFill>
                <a:effectLst/>
                <a:latin typeface="Segoe UI"/>
                <a:cs typeface="Segoe UI"/>
              </a:rPr>
              <a:t>Security Enhancements</a:t>
            </a:r>
            <a:r>
              <a:rPr lang="en-US" sz="1500" b="0" i="0">
                <a:solidFill>
                  <a:schemeClr val="accent1">
                    <a:lumMod val="60000"/>
                    <a:lumOff val="40000"/>
                  </a:schemeClr>
                </a:solidFill>
                <a:effectLst/>
                <a:latin typeface="Segoe UI"/>
                <a:cs typeface="Segoe UI"/>
              </a:rPr>
              <a:t>:</a:t>
            </a:r>
            <a:r>
              <a:rPr lang="en-US" sz="1500" b="0" i="0">
                <a:solidFill>
                  <a:srgbClr val="0070C0"/>
                </a:solidFill>
                <a:effectLst/>
                <a:latin typeface="Segoe UI"/>
                <a:cs typeface="Segoe UI"/>
              </a:rPr>
              <a:t> </a:t>
            </a:r>
            <a:r>
              <a:rPr lang="en-US" sz="1400" b="1" i="0">
                <a:solidFill>
                  <a:schemeClr val="bg1"/>
                </a:solidFill>
                <a:effectLst/>
                <a:latin typeface="Segoe UI"/>
                <a:cs typeface="Segoe UI"/>
              </a:rPr>
              <a:t>Detects and mitigates potential vulnerabilities</a:t>
            </a:r>
            <a:r>
              <a:rPr lang="en-US" sz="1400" b="0" i="0">
                <a:solidFill>
                  <a:schemeClr val="bg1"/>
                </a:solidFill>
                <a:effectLst/>
                <a:latin typeface="Segoe UI"/>
                <a:cs typeface="Segoe UI"/>
              </a:rPr>
              <a:t> early, making your code more secure.</a:t>
            </a:r>
          </a:p>
          <a:p>
            <a:endParaRPr lang="en-US" sz="1400" i="1">
              <a:solidFill>
                <a:schemeClr val="bg1"/>
              </a:solidFill>
            </a:endParaRPr>
          </a:p>
          <a:p>
            <a:pPr marL="285750" indent="-285750">
              <a:buFont typeface="Wingdings" panose="05000000000000000000" pitchFamily="2" charset="2"/>
              <a:buChar char="§"/>
            </a:pPr>
            <a:endParaRPr lang="en-US" sz="1400">
              <a:solidFill>
                <a:schemeClr val="bg1"/>
              </a:solidFill>
            </a:endParaRPr>
          </a:p>
          <a:p>
            <a:pPr marL="285750" indent="-285750">
              <a:buFont typeface="Wingdings" panose="05000000000000000000" pitchFamily="2" charset="2"/>
              <a:buChar char="§"/>
            </a:pPr>
            <a:endParaRPr lang="en-US" sz="1400">
              <a:solidFill>
                <a:schemeClr val="bg1"/>
              </a:solidFill>
            </a:endParaRPr>
          </a:p>
        </p:txBody>
      </p:sp>
      <p:grpSp>
        <p:nvGrpSpPr>
          <p:cNvPr id="2" name="Group 1">
            <a:extLst>
              <a:ext uri="{FF2B5EF4-FFF2-40B4-BE49-F238E27FC236}">
                <a16:creationId xmlns:a16="http://schemas.microsoft.com/office/drawing/2014/main" id="{6175B602-13AD-9C7A-FA3D-A77635AA5E1E}"/>
              </a:ext>
            </a:extLst>
          </p:cNvPr>
          <p:cNvGrpSpPr/>
          <p:nvPr/>
        </p:nvGrpSpPr>
        <p:grpSpPr>
          <a:xfrm>
            <a:off x="372839" y="4641879"/>
            <a:ext cx="11459132" cy="1822826"/>
            <a:chOff x="372839" y="2321181"/>
            <a:chExt cx="11459132" cy="1435594"/>
          </a:xfrm>
        </p:grpSpPr>
        <p:grpSp>
          <p:nvGrpSpPr>
            <p:cNvPr id="5" name="Group 4">
              <a:extLst>
                <a:ext uri="{FF2B5EF4-FFF2-40B4-BE49-F238E27FC236}">
                  <a16:creationId xmlns:a16="http://schemas.microsoft.com/office/drawing/2014/main" id="{9D08E20E-F989-953D-B5CA-E9A9157BBBF3}"/>
                </a:ext>
              </a:extLst>
            </p:cNvPr>
            <p:cNvGrpSpPr/>
            <p:nvPr/>
          </p:nvGrpSpPr>
          <p:grpSpPr>
            <a:xfrm>
              <a:off x="457200" y="2321181"/>
              <a:ext cx="11316725" cy="1306626"/>
              <a:chOff x="284989" y="5014462"/>
              <a:chExt cx="11659633" cy="1487061"/>
            </a:xfrm>
          </p:grpSpPr>
          <p:grpSp>
            <p:nvGrpSpPr>
              <p:cNvPr id="8" name="Group 7">
                <a:extLst>
                  <a:ext uri="{FF2B5EF4-FFF2-40B4-BE49-F238E27FC236}">
                    <a16:creationId xmlns:a16="http://schemas.microsoft.com/office/drawing/2014/main" id="{C87D489C-F781-E42E-EDBF-9DEC92415776}"/>
                  </a:ext>
                </a:extLst>
              </p:cNvPr>
              <p:cNvGrpSpPr/>
              <p:nvPr/>
            </p:nvGrpSpPr>
            <p:grpSpPr>
              <a:xfrm>
                <a:off x="444608" y="5534712"/>
                <a:ext cx="11427437" cy="966811"/>
                <a:chOff x="444608" y="5240845"/>
                <a:chExt cx="11427437" cy="1227596"/>
              </a:xfrm>
            </p:grpSpPr>
            <p:sp>
              <p:nvSpPr>
                <p:cNvPr id="12" name="Rectangle: Rounded Corners 11">
                  <a:extLst>
                    <a:ext uri="{FF2B5EF4-FFF2-40B4-BE49-F238E27FC236}">
                      <a16:creationId xmlns:a16="http://schemas.microsoft.com/office/drawing/2014/main" id="{9AA789AB-DE76-6CFE-6FB1-35FD6599B391}"/>
                    </a:ext>
                  </a:extLst>
                </p:cNvPr>
                <p:cNvSpPr/>
                <p:nvPr/>
              </p:nvSpPr>
              <p:spPr>
                <a:xfrm>
                  <a:off x="444608" y="5379907"/>
                  <a:ext cx="3526936" cy="1056705"/>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Ubuntu"/>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chemeClr val="bg1"/>
                    </a:solidFill>
                    <a:latin typeface="Ubuntu"/>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effectLst/>
                      <a:latin typeface="Segoe UI" panose="020B0502040204020203" pitchFamily="34" charset="0"/>
                    </a:rPr>
                    <a:t>Quickly identify and correct common programming errors, improving code reliability and reducing debugging time</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3" name="TextBox 12">
                  <a:extLst>
                    <a:ext uri="{FF2B5EF4-FFF2-40B4-BE49-F238E27FC236}">
                      <a16:creationId xmlns:a16="http://schemas.microsoft.com/office/drawing/2014/main" id="{42A7F40B-96B3-5B53-E75E-45A78E04B5F4}"/>
                    </a:ext>
                  </a:extLst>
                </p:cNvPr>
                <p:cNvSpPr txBox="1"/>
                <p:nvPr/>
              </p:nvSpPr>
              <p:spPr>
                <a:xfrm>
                  <a:off x="594086" y="5240845"/>
                  <a:ext cx="3228194" cy="808123"/>
                </a:xfrm>
                <a:prstGeom prst="rect">
                  <a:avLst/>
                </a:prstGeom>
                <a:noFill/>
              </p:spPr>
              <p:txBody>
                <a:bodyPr vert="horz" wrap="square" lIns="90000" tIns="46800" rIns="90000" bIns="46800" rtlCol="0" anchor="ctr">
                  <a:spAutoFit/>
                </a:bodyPr>
                <a:lstStyle/>
                <a:p>
                  <a:pPr algn="ctr">
                    <a:spcBef>
                      <a:spcPct val="0"/>
                    </a:spcBef>
                  </a:pPr>
                  <a:endParaRPr lang="en-IN" sz="1400" b="1" i="0">
                    <a:solidFill>
                      <a:schemeClr val="bg1"/>
                    </a:solidFill>
                    <a:effectLst/>
                    <a:latin typeface="Segoe Sans"/>
                  </a:endParaRPr>
                </a:p>
                <a:p>
                  <a:pPr algn="ctr">
                    <a:spcBef>
                      <a:spcPct val="0"/>
                    </a:spcBef>
                  </a:pPr>
                  <a:r>
                    <a:rPr lang="en-IN" sz="1400" b="1">
                      <a:solidFill>
                        <a:schemeClr val="bg1"/>
                      </a:solidFill>
                      <a:latin typeface="Segoe Sans"/>
                    </a:rPr>
                    <a:t>Automated Bug Fixes</a:t>
                  </a:r>
                  <a:endParaRPr lang="en-IN" sz="1400" b="1" i="0">
                    <a:solidFill>
                      <a:schemeClr val="bg1"/>
                    </a:solidFill>
                    <a:effectLst/>
                    <a:latin typeface="Segoe Sans"/>
                  </a:endParaRPr>
                </a:p>
                <a:p>
                  <a:pPr algn="ctr">
                    <a:spcBef>
                      <a:spcPct val="0"/>
                    </a:spcBef>
                  </a:pPr>
                  <a:endParaRPr lang="en-IN" sz="1200" b="1">
                    <a:solidFill>
                      <a:schemeClr val="bg1"/>
                    </a:solidFill>
                  </a:endParaRPr>
                </a:p>
              </p:txBody>
            </p:sp>
            <p:sp>
              <p:nvSpPr>
                <p:cNvPr id="14" name="Rectangle: Rounded Corners 13">
                  <a:extLst>
                    <a:ext uri="{FF2B5EF4-FFF2-40B4-BE49-F238E27FC236}">
                      <a16:creationId xmlns:a16="http://schemas.microsoft.com/office/drawing/2014/main" id="{C50423AF-560A-EB0A-6720-7AD633447AF1}"/>
                    </a:ext>
                  </a:extLst>
                </p:cNvPr>
                <p:cNvSpPr/>
                <p:nvPr/>
              </p:nvSpPr>
              <p:spPr>
                <a:xfrm>
                  <a:off x="4394858" y="5379907"/>
                  <a:ext cx="3526936" cy="1056705"/>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i="0">
                    <a:solidFill>
                      <a:schemeClr val="bg1"/>
                    </a:solidFill>
                    <a:effectLst/>
                    <a:latin typeface="Segoe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chemeClr val="bg1"/>
                    </a:solidFill>
                    <a:latin typeface="Segoe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effectLst/>
                      <a:latin typeface="Segoe UI" panose="020B0502040204020203" pitchFamily="34" charset="0"/>
                    </a:rPr>
                    <a:t>Suggest improvements to enhance code efficiency and reduce resource consumption </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5" name="TextBox 14">
                  <a:extLst>
                    <a:ext uri="{FF2B5EF4-FFF2-40B4-BE49-F238E27FC236}">
                      <a16:creationId xmlns:a16="http://schemas.microsoft.com/office/drawing/2014/main" id="{0267F4C4-0EDB-226D-3000-13ECD5E3F55B}"/>
                    </a:ext>
                  </a:extLst>
                </p:cNvPr>
                <p:cNvSpPr txBox="1"/>
                <p:nvPr/>
              </p:nvSpPr>
              <p:spPr>
                <a:xfrm>
                  <a:off x="4660024" y="5411736"/>
                  <a:ext cx="2834640" cy="352761"/>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Performance Optimization</a:t>
                  </a:r>
                  <a:endParaRPr lang="en-IN" sz="1400" b="1">
                    <a:solidFill>
                      <a:schemeClr val="bg1"/>
                    </a:solidFill>
                  </a:endParaRPr>
                </a:p>
              </p:txBody>
            </p:sp>
            <p:sp>
              <p:nvSpPr>
                <p:cNvPr id="17" name="Rectangle: Rounded Corners 16">
                  <a:extLst>
                    <a:ext uri="{FF2B5EF4-FFF2-40B4-BE49-F238E27FC236}">
                      <a16:creationId xmlns:a16="http://schemas.microsoft.com/office/drawing/2014/main" id="{5EA8EEA3-8E88-3BE9-0A85-B7D93C92DA41}"/>
                    </a:ext>
                  </a:extLst>
                </p:cNvPr>
                <p:cNvSpPr/>
                <p:nvPr/>
              </p:nvSpPr>
              <p:spPr>
                <a:xfrm>
                  <a:off x="8345109" y="5411736"/>
                  <a:ext cx="3526936" cy="1056705"/>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effectLst/>
                      <a:latin typeface="Segoe San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chemeClr val="bg1"/>
                    </a:solidFill>
                    <a:latin typeface="Segoe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effectLst/>
                      <a:latin typeface="Segoe UI" panose="020B0502040204020203" pitchFamily="34" charset="0"/>
                    </a:rPr>
                    <a:t>Detect and mitigate potential vulnerabilities like SQL injection and cross-site scripting (XSS)</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8" name="TextBox 17">
                  <a:extLst>
                    <a:ext uri="{FF2B5EF4-FFF2-40B4-BE49-F238E27FC236}">
                      <a16:creationId xmlns:a16="http://schemas.microsoft.com/office/drawing/2014/main" id="{C0B641AF-ADB1-66B0-2A4C-0EDCAAFE11FC}"/>
                    </a:ext>
                  </a:extLst>
                </p:cNvPr>
                <p:cNvSpPr txBox="1"/>
                <p:nvPr/>
              </p:nvSpPr>
              <p:spPr>
                <a:xfrm>
                  <a:off x="8631150" y="5468527"/>
                  <a:ext cx="2834640" cy="352761"/>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Security Enhancements</a:t>
                  </a:r>
                  <a:endParaRPr lang="en-IN" sz="1400" b="1">
                    <a:solidFill>
                      <a:schemeClr val="bg1"/>
                    </a:solidFill>
                  </a:endParaRPr>
                </a:p>
              </p:txBody>
            </p:sp>
          </p:grpSp>
          <p:sp>
            <p:nvSpPr>
              <p:cNvPr id="9" name="TextBox 8">
                <a:extLst>
                  <a:ext uri="{FF2B5EF4-FFF2-40B4-BE49-F238E27FC236}">
                    <a16:creationId xmlns:a16="http://schemas.microsoft.com/office/drawing/2014/main" id="{A1329E4F-700A-9C8F-AC2D-E0DFF95AB3AE}"/>
                  </a:ext>
                </a:extLst>
              </p:cNvPr>
              <p:cNvSpPr txBox="1"/>
              <p:nvPr/>
            </p:nvSpPr>
            <p:spPr>
              <a:xfrm>
                <a:off x="284989" y="5014462"/>
                <a:ext cx="11659633" cy="518865"/>
              </a:xfrm>
              <a:prstGeom prst="roundRect">
                <a:avLst/>
              </a:prstGeom>
              <a:solidFill>
                <a:srgbClr val="0070AD"/>
              </a:solidFill>
            </p:spPr>
            <p:txBody>
              <a:bodyPr wrap="square">
                <a:spAutoFit/>
              </a:bodyPr>
              <a:lstStyle/>
              <a:p>
                <a:pPr algn="ctr"/>
                <a:r>
                  <a:rPr lang="en-IN" sz="1600" b="1" i="0">
                    <a:solidFill>
                      <a:schemeClr val="bg1"/>
                    </a:solidFill>
                    <a:effectLst/>
                    <a:latin typeface="Segoe Sans"/>
                  </a:rPr>
                  <a:t>Use</a:t>
                </a:r>
                <a:r>
                  <a:rPr lang="en-IN" sz="1600" b="1" i="0">
                    <a:solidFill>
                      <a:srgbClr val="424242"/>
                    </a:solidFill>
                    <a:effectLst/>
                    <a:latin typeface="Segoe Sans"/>
                  </a:rPr>
                  <a:t> </a:t>
                </a:r>
                <a:r>
                  <a:rPr lang="en-IN" sz="1600" b="1" i="0">
                    <a:solidFill>
                      <a:schemeClr val="bg1"/>
                    </a:solidFill>
                    <a:effectLst/>
                    <a:latin typeface="Segoe Sans"/>
                  </a:rPr>
                  <a:t>Cases</a:t>
                </a:r>
              </a:p>
              <a:p>
                <a:pPr algn="ctr"/>
                <a:endParaRPr lang="en-IN" sz="1200">
                  <a:solidFill>
                    <a:schemeClr val="bg1"/>
                  </a:solidFill>
                  <a:latin typeface="+mj-lt"/>
                </a:endParaRPr>
              </a:p>
            </p:txBody>
          </p:sp>
        </p:grpSp>
        <p:sp>
          <p:nvSpPr>
            <p:cNvPr id="7" name="Rectangle: Rounded Corners 6">
              <a:extLst>
                <a:ext uri="{FF2B5EF4-FFF2-40B4-BE49-F238E27FC236}">
                  <a16:creationId xmlns:a16="http://schemas.microsoft.com/office/drawing/2014/main" id="{D48AC0FE-F77E-BBF1-7F13-A755A3C6D69F}"/>
                </a:ext>
              </a:extLst>
            </p:cNvPr>
            <p:cNvSpPr/>
            <p:nvPr/>
          </p:nvSpPr>
          <p:spPr>
            <a:xfrm>
              <a:off x="372839" y="2323320"/>
              <a:ext cx="11459132" cy="1433455"/>
            </a:xfrm>
            <a:prstGeom prst="roundRect">
              <a:avLst>
                <a:gd name="adj" fmla="val 3790"/>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err="1">
                <a:solidFill>
                  <a:schemeClr val="tx1"/>
                </a:solidFill>
              </a:endParaRPr>
            </a:p>
          </p:txBody>
        </p:sp>
      </p:grpSp>
    </p:spTree>
    <p:extLst>
      <p:ext uri="{BB962C8B-B14F-4D97-AF65-F5344CB8AC3E}">
        <p14:creationId xmlns:p14="http://schemas.microsoft.com/office/powerpoint/2010/main" val="332223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D08ECEA2-A0CA-9912-6FCE-458887C585DF}"/>
              </a:ext>
            </a:extLst>
          </p:cNvPr>
          <p:cNvSpPr txBox="1">
            <a:spLocks/>
          </p:cNvSpPr>
          <p:nvPr/>
        </p:nvSpPr>
        <p:spPr>
          <a:xfrm>
            <a:off x="561870" y="-1824817"/>
            <a:ext cx="10698946" cy="2715029"/>
          </a:xfrm>
          <a:prstGeom prst="rect">
            <a:avLst/>
          </a:prstGeom>
        </p:spPr>
        <p:txBody>
          <a:bodyPr vert="horz" lIns="0" tIns="0" rIns="0" bIns="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R="0" lvl="0" algn="l" defTabSz="914400" rtl="0" eaLnBrk="1" fontAlgn="auto" latinLnBrk="0" hangingPunct="1">
              <a:lnSpc>
                <a:spcPct val="107000"/>
              </a:lnSpc>
              <a:spcBef>
                <a:spcPct val="0"/>
              </a:spcBef>
              <a:spcAft>
                <a:spcPts val="800"/>
              </a:spcAft>
              <a:buClrTx/>
              <a:buSzTx/>
              <a:tabLst/>
              <a:defRPr/>
            </a:pPr>
            <a:endParaRPr kumimoji="0" lang="en-US" sz="1100" b="1" i="0" u="none" strike="noStrike" kern="1200" cap="none" spc="0" normalizeH="0" baseline="0" noProof="0">
              <a:ln>
                <a:noFill/>
              </a:ln>
              <a:solidFill>
                <a:srgbClr val="FFFFFF"/>
              </a:solidFill>
              <a:effectLst/>
              <a:uLnTx/>
              <a:uFillTx/>
              <a:latin typeface="Ubuntu"/>
              <a:ea typeface="+mj-ea"/>
              <a:cs typeface="+mj-cs"/>
            </a:endParaRPr>
          </a:p>
        </p:txBody>
      </p:sp>
      <p:pic>
        <p:nvPicPr>
          <p:cNvPr id="10" name="Picture 9" descr="A yellow circle with blue text&#10;&#10;Description automatically generated">
            <a:extLst>
              <a:ext uri="{FF2B5EF4-FFF2-40B4-BE49-F238E27FC236}">
                <a16:creationId xmlns:a16="http://schemas.microsoft.com/office/drawing/2014/main" id="{42F45FDF-4599-B8B5-01B4-99214D8820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65958" y="81792"/>
            <a:ext cx="719455" cy="719455"/>
          </a:xfrm>
          <a:prstGeom prst="rect">
            <a:avLst/>
          </a:prstGeom>
        </p:spPr>
      </p:pic>
      <p:sp>
        <p:nvSpPr>
          <p:cNvPr id="11" name="TextBox 10">
            <a:extLst>
              <a:ext uri="{FF2B5EF4-FFF2-40B4-BE49-F238E27FC236}">
                <a16:creationId xmlns:a16="http://schemas.microsoft.com/office/drawing/2014/main" id="{4C86EBE9-0F89-9D21-C1D9-1766595F07B7}"/>
              </a:ext>
            </a:extLst>
          </p:cNvPr>
          <p:cNvSpPr txBox="1"/>
          <p:nvPr/>
        </p:nvSpPr>
        <p:spPr>
          <a:xfrm>
            <a:off x="337030" y="210686"/>
            <a:ext cx="5562325" cy="369653"/>
          </a:xfrm>
          <a:prstGeom prst="rect">
            <a:avLst/>
          </a:prstGeom>
          <a:noFill/>
        </p:spPr>
        <p:txBody>
          <a:bodyPr wrap="square">
            <a:spAutoFit/>
          </a:bodyPr>
          <a:lstStyle/>
          <a:p>
            <a:pPr algn="l">
              <a:lnSpc>
                <a:spcPts val="2400"/>
              </a:lnSpc>
            </a:pPr>
            <a:r>
              <a:rPr lang="en-US" sz="1600" b="1" i="0">
                <a:solidFill>
                  <a:schemeClr val="accent1">
                    <a:lumMod val="60000"/>
                    <a:lumOff val="40000"/>
                  </a:schemeClr>
                </a:solidFill>
                <a:effectLst/>
                <a:latin typeface="Segoe Sans"/>
              </a:rPr>
              <a:t>When to Use </a:t>
            </a:r>
            <a:r>
              <a:rPr lang="en-US" sz="1600" b="1">
                <a:solidFill>
                  <a:schemeClr val="accent1">
                    <a:lumMod val="60000"/>
                    <a:lumOff val="40000"/>
                  </a:schemeClr>
                </a:solidFill>
                <a:latin typeface="Segoe Sans"/>
              </a:rPr>
              <a:t>Code Fixing </a:t>
            </a:r>
            <a:r>
              <a:rPr lang="en-US" sz="1600" b="1" i="0">
                <a:solidFill>
                  <a:schemeClr val="accent1">
                    <a:lumMod val="60000"/>
                    <a:lumOff val="40000"/>
                  </a:schemeClr>
                </a:solidFill>
                <a:effectLst/>
                <a:latin typeface="Segoe Sans"/>
              </a:rPr>
              <a:t>Suggestions?</a:t>
            </a:r>
          </a:p>
        </p:txBody>
      </p:sp>
      <p:sp>
        <p:nvSpPr>
          <p:cNvPr id="2" name="Rectangle: Rounded Corners 1">
            <a:extLst>
              <a:ext uri="{FF2B5EF4-FFF2-40B4-BE49-F238E27FC236}">
                <a16:creationId xmlns:a16="http://schemas.microsoft.com/office/drawing/2014/main" id="{9E7A0D00-882E-3E1D-1D87-FD0A4F3CAF11}"/>
              </a:ext>
            </a:extLst>
          </p:cNvPr>
          <p:cNvSpPr/>
          <p:nvPr/>
        </p:nvSpPr>
        <p:spPr>
          <a:xfrm>
            <a:off x="412355" y="917467"/>
            <a:ext cx="11367289" cy="670347"/>
          </a:xfrm>
          <a:prstGeom prst="roundRect">
            <a:avLst>
              <a:gd name="adj" fmla="val 13727"/>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8" name="TextBox 7">
            <a:extLst>
              <a:ext uri="{FF2B5EF4-FFF2-40B4-BE49-F238E27FC236}">
                <a16:creationId xmlns:a16="http://schemas.microsoft.com/office/drawing/2014/main" id="{F69C4B4C-2275-9B87-0041-4DD8FDF30C02}"/>
              </a:ext>
            </a:extLst>
          </p:cNvPr>
          <p:cNvSpPr txBox="1"/>
          <p:nvPr/>
        </p:nvSpPr>
        <p:spPr>
          <a:xfrm>
            <a:off x="537273" y="935485"/>
            <a:ext cx="10723543" cy="656206"/>
          </a:xfrm>
          <a:prstGeom prst="rect">
            <a:avLst/>
          </a:prstGeom>
          <a:noFill/>
        </p:spPr>
        <p:txBody>
          <a:bodyPr vert="horz" wrap="square" lIns="90000" tIns="46800" rIns="90000" bIns="46800" rtlCol="0" anchor="ctr">
            <a:spAutoFit/>
          </a:bodyPr>
          <a:lstStyle/>
          <a:p>
            <a:pPr marL="342900" indent="-342900" algn="l">
              <a:spcBef>
                <a:spcPct val="0"/>
              </a:spcBef>
              <a:buAutoNum type="arabicPeriod"/>
            </a:pPr>
            <a:r>
              <a:rPr lang="en-US" sz="1400" b="1">
                <a:solidFill>
                  <a:schemeClr val="accent1">
                    <a:lumMod val="60000"/>
                    <a:lumOff val="40000"/>
                  </a:schemeClr>
                </a:solidFill>
                <a:latin typeface="Ubuntu" panose="020B0504030602030204" pitchFamily="34" charset="0"/>
              </a:rPr>
              <a:t>During Development:</a:t>
            </a:r>
            <a:r>
              <a:rPr lang="en-US" sz="1400" b="1" i="0" u="none" strike="noStrike" baseline="0">
                <a:solidFill>
                  <a:schemeClr val="accent1">
                    <a:lumMod val="60000"/>
                    <a:lumOff val="40000"/>
                  </a:schemeClr>
                </a:solidFill>
                <a:latin typeface="Ubuntu" panose="020B0504030602030204" pitchFamily="34" charset="0"/>
              </a:rPr>
              <a:t> </a:t>
            </a:r>
          </a:p>
          <a:p>
            <a:pPr algn="l"/>
            <a:endParaRPr lang="en-US" sz="1050" b="0" i="0" u="none" strike="noStrike" baseline="0">
              <a:solidFill>
                <a:schemeClr val="bg1"/>
              </a:solidFill>
              <a:latin typeface="Ubuntu" panose="020B0504030602030204" pitchFamily="34" charset="0"/>
            </a:endParaRPr>
          </a:p>
          <a:p>
            <a:pPr lvl="1"/>
            <a:r>
              <a:rPr lang="en-US" sz="1200" b="1" i="0">
                <a:solidFill>
                  <a:schemeClr val="bg1"/>
                </a:solidFill>
                <a:effectLst/>
                <a:latin typeface="Segoe UI" panose="020B0502040204020203" pitchFamily="34" charset="0"/>
              </a:rPr>
              <a:t>Catch and correct errors early </a:t>
            </a:r>
            <a:r>
              <a:rPr lang="en-US" sz="1200" b="0" i="0">
                <a:solidFill>
                  <a:schemeClr val="bg1"/>
                </a:solidFill>
                <a:effectLst/>
                <a:latin typeface="Segoe UI" panose="020B0502040204020203" pitchFamily="34" charset="0"/>
              </a:rPr>
              <a:t>to ensure smoother progress</a:t>
            </a:r>
            <a:r>
              <a:rPr lang="en-US" sz="1200" b="0" i="0">
                <a:solidFill>
                  <a:srgbClr val="242424"/>
                </a:solidFill>
                <a:effectLst/>
                <a:latin typeface="Segoe UI" panose="020B0502040204020203" pitchFamily="34" charset="0"/>
              </a:rPr>
              <a:t>.</a:t>
            </a:r>
            <a:endParaRPr lang="en-US" sz="1200" b="0" i="0" u="none" strike="noStrike" baseline="0">
              <a:solidFill>
                <a:schemeClr val="bg1"/>
              </a:solidFill>
              <a:latin typeface="Ubuntu" panose="020B0504030602030204" pitchFamily="34" charset="0"/>
            </a:endParaRPr>
          </a:p>
        </p:txBody>
      </p:sp>
      <p:sp>
        <p:nvSpPr>
          <p:cNvPr id="26" name="Rectangle: Rounded Corners 25">
            <a:extLst>
              <a:ext uri="{FF2B5EF4-FFF2-40B4-BE49-F238E27FC236}">
                <a16:creationId xmlns:a16="http://schemas.microsoft.com/office/drawing/2014/main" id="{265B99C0-B328-6186-9307-BA8A3808AEF8}"/>
              </a:ext>
            </a:extLst>
          </p:cNvPr>
          <p:cNvSpPr/>
          <p:nvPr/>
        </p:nvSpPr>
        <p:spPr>
          <a:xfrm>
            <a:off x="412354" y="1694729"/>
            <a:ext cx="11367289" cy="855850"/>
          </a:xfrm>
          <a:prstGeom prst="roundRect">
            <a:avLst>
              <a:gd name="adj" fmla="val 4908"/>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2" name="TextBox 11">
            <a:extLst>
              <a:ext uri="{FF2B5EF4-FFF2-40B4-BE49-F238E27FC236}">
                <a16:creationId xmlns:a16="http://schemas.microsoft.com/office/drawing/2014/main" id="{A0EE4DF6-5D28-3622-586D-80D565B7ECFF}"/>
              </a:ext>
            </a:extLst>
          </p:cNvPr>
          <p:cNvSpPr txBox="1"/>
          <p:nvPr/>
        </p:nvSpPr>
        <p:spPr>
          <a:xfrm>
            <a:off x="561870" y="1767620"/>
            <a:ext cx="10698946" cy="710067"/>
          </a:xfrm>
          <a:prstGeom prst="rect">
            <a:avLst/>
          </a:prstGeom>
          <a:noFill/>
        </p:spPr>
        <p:txBody>
          <a:bodyPr vert="horz" wrap="square" lIns="90000" tIns="46800" rIns="90000" bIns="46800" rtlCol="0" anchor="ctr">
            <a:spAutoFit/>
          </a:bodyPr>
          <a:lstStyle/>
          <a:p>
            <a:pPr marL="342900" indent="-342900" algn="l">
              <a:spcBef>
                <a:spcPct val="0"/>
              </a:spcBef>
              <a:buAutoNum type="arabicPeriod" startAt="2"/>
            </a:pPr>
            <a:r>
              <a:rPr lang="en-US" sz="1400" b="1">
                <a:solidFill>
                  <a:schemeClr val="accent1">
                    <a:lumMod val="60000"/>
                    <a:lumOff val="40000"/>
                  </a:schemeClr>
                </a:solidFill>
                <a:latin typeface="Ubuntu" panose="020B0504030602030204" pitchFamily="34" charset="0"/>
              </a:rPr>
              <a:t>Code Reviews:</a:t>
            </a:r>
            <a:endParaRPr lang="en-US" sz="1400" b="1" i="0" u="none" strike="noStrike" baseline="0">
              <a:solidFill>
                <a:schemeClr val="accent1">
                  <a:lumMod val="60000"/>
                  <a:lumOff val="40000"/>
                </a:schemeClr>
              </a:solidFill>
              <a:latin typeface="Ubuntu" panose="020B0504030602030204" pitchFamily="34" charset="0"/>
            </a:endParaRPr>
          </a:p>
          <a:p>
            <a:pPr algn="l">
              <a:spcBef>
                <a:spcPct val="0"/>
              </a:spcBef>
            </a:pPr>
            <a:endParaRPr lang="en-US" sz="1400" b="1" i="0" u="none" strike="noStrike" baseline="0">
              <a:solidFill>
                <a:schemeClr val="accent2"/>
              </a:solidFill>
              <a:latin typeface="Ubuntu" panose="020B0504030602030204" pitchFamily="34" charset="0"/>
            </a:endParaRPr>
          </a:p>
          <a:p>
            <a:pPr algn="l">
              <a:spcBef>
                <a:spcPct val="0"/>
              </a:spcBef>
            </a:pPr>
            <a:r>
              <a:rPr lang="en-US" sz="1200" b="0" i="0">
                <a:solidFill>
                  <a:schemeClr val="bg1"/>
                </a:solidFill>
                <a:effectLst/>
                <a:latin typeface="Segoe Sans"/>
              </a:rPr>
              <a:t>             </a:t>
            </a:r>
            <a:r>
              <a:rPr lang="en-US" sz="1200" b="1" i="0">
                <a:solidFill>
                  <a:schemeClr val="bg1"/>
                </a:solidFill>
                <a:effectLst/>
                <a:latin typeface="Segoe UI" panose="020B0502040204020203" pitchFamily="34" charset="0"/>
              </a:rPr>
              <a:t>Automate initial quality checks</a:t>
            </a:r>
            <a:r>
              <a:rPr lang="en-US" sz="1200" b="0" i="0">
                <a:solidFill>
                  <a:schemeClr val="bg1"/>
                </a:solidFill>
                <a:effectLst/>
                <a:latin typeface="Segoe UI" panose="020B0502040204020203" pitchFamily="34" charset="0"/>
              </a:rPr>
              <a:t> for consistency and reliability.</a:t>
            </a:r>
            <a:r>
              <a:rPr lang="en-US" sz="1200" b="0" i="0">
                <a:solidFill>
                  <a:srgbClr val="242424"/>
                </a:solidFill>
                <a:effectLst/>
                <a:latin typeface="Segoe UI" panose="020B0502040204020203" pitchFamily="34" charset="0"/>
              </a:rPr>
              <a:t>.</a:t>
            </a:r>
            <a:endParaRPr lang="en-US" sz="1200" b="1" i="0" u="none" strike="noStrike" baseline="0">
              <a:solidFill>
                <a:schemeClr val="bg1"/>
              </a:solidFill>
              <a:latin typeface="Ubuntu" panose="020B0504030602030204" pitchFamily="34" charset="0"/>
            </a:endParaRPr>
          </a:p>
        </p:txBody>
      </p:sp>
      <p:sp>
        <p:nvSpPr>
          <p:cNvPr id="3" name="Rectangle: Rounded Corners 2">
            <a:extLst>
              <a:ext uri="{FF2B5EF4-FFF2-40B4-BE49-F238E27FC236}">
                <a16:creationId xmlns:a16="http://schemas.microsoft.com/office/drawing/2014/main" id="{EFCFD71E-7C53-B668-E02F-FAC01956EED0}"/>
              </a:ext>
            </a:extLst>
          </p:cNvPr>
          <p:cNvSpPr/>
          <p:nvPr/>
        </p:nvSpPr>
        <p:spPr>
          <a:xfrm>
            <a:off x="412353" y="2702204"/>
            <a:ext cx="11367289" cy="890351"/>
          </a:xfrm>
          <a:prstGeom prst="roundRect">
            <a:avLst>
              <a:gd name="adj" fmla="val 9107"/>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3" name="TextBox 12">
            <a:extLst>
              <a:ext uri="{FF2B5EF4-FFF2-40B4-BE49-F238E27FC236}">
                <a16:creationId xmlns:a16="http://schemas.microsoft.com/office/drawing/2014/main" id="{7372AA5B-3F96-F061-6705-BED52C2EEE52}"/>
              </a:ext>
            </a:extLst>
          </p:cNvPr>
          <p:cNvSpPr txBox="1"/>
          <p:nvPr/>
        </p:nvSpPr>
        <p:spPr>
          <a:xfrm>
            <a:off x="561870" y="2815428"/>
            <a:ext cx="10723543" cy="663901"/>
          </a:xfrm>
          <a:prstGeom prst="rect">
            <a:avLst/>
          </a:prstGeom>
          <a:noFill/>
        </p:spPr>
        <p:txBody>
          <a:bodyPr vert="horz" wrap="square" lIns="90000" tIns="46800" rIns="90000" bIns="46800" rtlCol="0" anchor="ctr">
            <a:spAutoFit/>
          </a:bodyPr>
          <a:lstStyle/>
          <a:p>
            <a:pPr algn="l">
              <a:spcBef>
                <a:spcPct val="0"/>
              </a:spcBef>
            </a:pPr>
            <a:r>
              <a:rPr lang="en-US" sz="1400" b="1">
                <a:solidFill>
                  <a:schemeClr val="accent1">
                    <a:lumMod val="60000"/>
                    <a:lumOff val="40000"/>
                  </a:schemeClr>
                </a:solidFill>
              </a:rPr>
              <a:t>3.    Security Audits:</a:t>
            </a:r>
          </a:p>
          <a:p>
            <a:pPr algn="l">
              <a:spcBef>
                <a:spcPct val="0"/>
              </a:spcBef>
            </a:pPr>
            <a:endParaRPr lang="en-US" sz="1100">
              <a:solidFill>
                <a:schemeClr val="bg1"/>
              </a:solidFill>
            </a:endParaRPr>
          </a:p>
          <a:p>
            <a:pPr lvl="1">
              <a:spcBef>
                <a:spcPct val="0"/>
              </a:spcBef>
            </a:pPr>
            <a:r>
              <a:rPr lang="en-US" sz="1200" b="0" i="0">
                <a:solidFill>
                  <a:schemeClr val="bg1"/>
                </a:solidFill>
                <a:effectLst/>
                <a:latin typeface="Segoe Sans"/>
              </a:rPr>
              <a:t> </a:t>
            </a:r>
            <a:r>
              <a:rPr lang="en-US" sz="1200" b="0" i="0">
                <a:solidFill>
                  <a:schemeClr val="bg1"/>
                </a:solidFill>
                <a:effectLst/>
                <a:latin typeface="Segoe UI" panose="020B0502040204020203" pitchFamily="34" charset="0"/>
              </a:rPr>
              <a:t> </a:t>
            </a:r>
            <a:r>
              <a:rPr lang="en-US" sz="1200" b="1" i="0">
                <a:solidFill>
                  <a:schemeClr val="bg1"/>
                </a:solidFill>
                <a:effectLst/>
                <a:latin typeface="Segoe UI" panose="020B0502040204020203" pitchFamily="34" charset="0"/>
              </a:rPr>
              <a:t>Identify and fix vulnerabilities</a:t>
            </a:r>
            <a:r>
              <a:rPr lang="en-US" sz="1200" b="0" i="0">
                <a:solidFill>
                  <a:schemeClr val="bg1"/>
                </a:solidFill>
                <a:effectLst/>
                <a:latin typeface="Segoe UI" panose="020B0502040204020203" pitchFamily="34" charset="0"/>
              </a:rPr>
              <a:t> before they become problems.</a:t>
            </a:r>
            <a:endParaRPr lang="en-US" sz="1200">
              <a:solidFill>
                <a:schemeClr val="bg1"/>
              </a:solidFill>
            </a:endParaRPr>
          </a:p>
        </p:txBody>
      </p:sp>
      <p:sp>
        <p:nvSpPr>
          <p:cNvPr id="7" name="TextBox 6">
            <a:extLst>
              <a:ext uri="{FF2B5EF4-FFF2-40B4-BE49-F238E27FC236}">
                <a16:creationId xmlns:a16="http://schemas.microsoft.com/office/drawing/2014/main" id="{BF612A7B-4B73-097A-B20E-4F9D15319BE7}"/>
              </a:ext>
            </a:extLst>
          </p:cNvPr>
          <p:cNvSpPr txBox="1"/>
          <p:nvPr/>
        </p:nvSpPr>
        <p:spPr>
          <a:xfrm>
            <a:off x="3523717" y="3977149"/>
            <a:ext cx="6750263" cy="369332"/>
          </a:xfrm>
          <a:prstGeom prst="rect">
            <a:avLst/>
          </a:prstGeom>
          <a:noFill/>
        </p:spPr>
        <p:txBody>
          <a:bodyPr wrap="square">
            <a:spAutoFit/>
          </a:bodyPr>
          <a:lstStyle/>
          <a:p>
            <a:r>
              <a:rPr lang="en-US" b="1">
                <a:solidFill>
                  <a:schemeClr val="accent1">
                    <a:lumMod val="60000"/>
                    <a:lumOff val="40000"/>
                  </a:schemeClr>
                </a:solidFill>
              </a:rPr>
              <a:t>Solutions provided By Code Fixing Suggestions </a:t>
            </a:r>
          </a:p>
        </p:txBody>
      </p:sp>
      <p:sp>
        <p:nvSpPr>
          <p:cNvPr id="14" name="Rectangle: Rounded Corners 13">
            <a:extLst>
              <a:ext uri="{FF2B5EF4-FFF2-40B4-BE49-F238E27FC236}">
                <a16:creationId xmlns:a16="http://schemas.microsoft.com/office/drawing/2014/main" id="{FDDAB57B-C0D1-1C46-80A4-C96280AA38B1}"/>
              </a:ext>
            </a:extLst>
          </p:cNvPr>
          <p:cNvSpPr/>
          <p:nvPr/>
        </p:nvSpPr>
        <p:spPr>
          <a:xfrm>
            <a:off x="1975862" y="4664733"/>
            <a:ext cx="3526936" cy="640301"/>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15" name="TextBox 14">
            <a:extLst>
              <a:ext uri="{FF2B5EF4-FFF2-40B4-BE49-F238E27FC236}">
                <a16:creationId xmlns:a16="http://schemas.microsoft.com/office/drawing/2014/main" id="{E71431B0-FA9F-7F85-16B9-AB332162A5E2}"/>
              </a:ext>
            </a:extLst>
          </p:cNvPr>
          <p:cNvSpPr txBox="1"/>
          <p:nvPr/>
        </p:nvSpPr>
        <p:spPr>
          <a:xfrm>
            <a:off x="2322010" y="4829904"/>
            <a:ext cx="2834640" cy="309958"/>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Instant Code Analysis</a:t>
            </a:r>
            <a:endParaRPr lang="en-IN" sz="1400" b="1">
              <a:solidFill>
                <a:schemeClr val="bg1"/>
              </a:solidFill>
            </a:endParaRPr>
          </a:p>
        </p:txBody>
      </p:sp>
      <p:sp>
        <p:nvSpPr>
          <p:cNvPr id="16" name="Rectangle: Rounded Corners 15">
            <a:extLst>
              <a:ext uri="{FF2B5EF4-FFF2-40B4-BE49-F238E27FC236}">
                <a16:creationId xmlns:a16="http://schemas.microsoft.com/office/drawing/2014/main" id="{7F28279B-14ED-ED0B-14A7-F754233B1352}"/>
              </a:ext>
            </a:extLst>
          </p:cNvPr>
          <p:cNvSpPr/>
          <p:nvPr/>
        </p:nvSpPr>
        <p:spPr>
          <a:xfrm>
            <a:off x="6747044" y="4664733"/>
            <a:ext cx="3526936" cy="640301"/>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18" name="TextBox 17">
            <a:extLst>
              <a:ext uri="{FF2B5EF4-FFF2-40B4-BE49-F238E27FC236}">
                <a16:creationId xmlns:a16="http://schemas.microsoft.com/office/drawing/2014/main" id="{7945EB70-BD8B-B9FD-32C4-C0F8720BBE11}"/>
              </a:ext>
            </a:extLst>
          </p:cNvPr>
          <p:cNvSpPr txBox="1"/>
          <p:nvPr/>
        </p:nvSpPr>
        <p:spPr>
          <a:xfrm>
            <a:off x="7093192" y="4829904"/>
            <a:ext cx="2834640" cy="309958"/>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Multi-Language Support</a:t>
            </a:r>
            <a:endParaRPr lang="en-IN" sz="1400" b="1">
              <a:solidFill>
                <a:schemeClr val="bg1"/>
              </a:solidFill>
            </a:endParaRPr>
          </a:p>
        </p:txBody>
      </p:sp>
      <p:sp>
        <p:nvSpPr>
          <p:cNvPr id="19" name="Rectangle: Rounded Corners 18">
            <a:extLst>
              <a:ext uri="{FF2B5EF4-FFF2-40B4-BE49-F238E27FC236}">
                <a16:creationId xmlns:a16="http://schemas.microsoft.com/office/drawing/2014/main" id="{366FB202-DEC6-7F3A-F090-9ABAFA393A72}"/>
              </a:ext>
            </a:extLst>
          </p:cNvPr>
          <p:cNvSpPr/>
          <p:nvPr/>
        </p:nvSpPr>
        <p:spPr>
          <a:xfrm>
            <a:off x="1975862" y="5537953"/>
            <a:ext cx="3526936" cy="640301"/>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20" name="TextBox 19">
            <a:extLst>
              <a:ext uri="{FF2B5EF4-FFF2-40B4-BE49-F238E27FC236}">
                <a16:creationId xmlns:a16="http://schemas.microsoft.com/office/drawing/2014/main" id="{FF12C9A6-B0B7-972B-952D-6B5D406CAB9C}"/>
              </a:ext>
            </a:extLst>
          </p:cNvPr>
          <p:cNvSpPr txBox="1"/>
          <p:nvPr/>
        </p:nvSpPr>
        <p:spPr>
          <a:xfrm>
            <a:off x="2376252" y="5703124"/>
            <a:ext cx="2834640" cy="309958"/>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Contextual Recommendations</a:t>
            </a:r>
            <a:endParaRPr lang="en-IN" sz="1400" b="1">
              <a:solidFill>
                <a:schemeClr val="bg1"/>
              </a:solidFill>
            </a:endParaRPr>
          </a:p>
        </p:txBody>
      </p:sp>
      <p:sp>
        <p:nvSpPr>
          <p:cNvPr id="4" name="Rectangle: Rounded Corners 3">
            <a:extLst>
              <a:ext uri="{FF2B5EF4-FFF2-40B4-BE49-F238E27FC236}">
                <a16:creationId xmlns:a16="http://schemas.microsoft.com/office/drawing/2014/main" id="{729003BE-663A-E706-C6EC-C620B6527062}"/>
              </a:ext>
            </a:extLst>
          </p:cNvPr>
          <p:cNvSpPr/>
          <p:nvPr/>
        </p:nvSpPr>
        <p:spPr>
          <a:xfrm>
            <a:off x="6747044" y="5537953"/>
            <a:ext cx="3526936" cy="640301"/>
          </a:xfrm>
          <a:prstGeom prst="roundRect">
            <a:avLst/>
          </a:prstGeom>
          <a:solidFill>
            <a:schemeClr val="accent4">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Ubuntu"/>
              <a:ea typeface="+mn-ea"/>
              <a:cs typeface="+mn-cs"/>
            </a:endParaRPr>
          </a:p>
        </p:txBody>
      </p:sp>
      <p:sp>
        <p:nvSpPr>
          <p:cNvPr id="9" name="TextBox 8">
            <a:extLst>
              <a:ext uri="{FF2B5EF4-FFF2-40B4-BE49-F238E27FC236}">
                <a16:creationId xmlns:a16="http://schemas.microsoft.com/office/drawing/2014/main" id="{4C9185D4-D959-980B-6D39-232EADDB558B}"/>
              </a:ext>
            </a:extLst>
          </p:cNvPr>
          <p:cNvSpPr txBox="1"/>
          <p:nvPr/>
        </p:nvSpPr>
        <p:spPr>
          <a:xfrm>
            <a:off x="7093192" y="5703124"/>
            <a:ext cx="2834640" cy="309958"/>
          </a:xfrm>
          <a:prstGeom prst="rect">
            <a:avLst/>
          </a:prstGeom>
          <a:noFill/>
        </p:spPr>
        <p:txBody>
          <a:bodyPr vert="horz" wrap="square" lIns="90000" tIns="46800" rIns="90000" bIns="46800" rtlCol="0" anchor="ctr">
            <a:spAutoFit/>
          </a:bodyPr>
          <a:lstStyle/>
          <a:p>
            <a:pPr algn="ctr">
              <a:spcBef>
                <a:spcPct val="0"/>
              </a:spcBef>
            </a:pPr>
            <a:r>
              <a:rPr lang="en-IN" sz="1400" b="1" i="0">
                <a:solidFill>
                  <a:schemeClr val="bg1"/>
                </a:solidFill>
                <a:effectLst/>
                <a:latin typeface="Segoe UI" panose="020B0502040204020203" pitchFamily="34" charset="0"/>
              </a:rPr>
              <a:t>Automated Refactoring</a:t>
            </a:r>
            <a:endParaRPr lang="en-IN" sz="1400" b="1">
              <a:solidFill>
                <a:schemeClr val="bg1"/>
              </a:solidFill>
            </a:endParaRPr>
          </a:p>
        </p:txBody>
      </p:sp>
    </p:spTree>
    <p:extLst>
      <p:ext uri="{BB962C8B-B14F-4D97-AF65-F5344CB8AC3E}">
        <p14:creationId xmlns:p14="http://schemas.microsoft.com/office/powerpoint/2010/main" val="32691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C5B1FD-F732-A94E-825F-B2DF86F45816}"/>
              </a:ext>
              <a:ext uri="{C183D7F6-B498-43B3-948B-1728B52AA6E4}">
                <adec:decorative xmlns:adec="http://schemas.microsoft.com/office/drawing/2017/decorative" val="1"/>
              </a:ext>
            </a:extLst>
          </p:cNvPr>
          <p:cNvSpPr/>
          <p:nvPr/>
        </p:nvSpPr>
        <p:spPr bwMode="white">
          <a:xfrm>
            <a:off x="1" y="-21854"/>
            <a:ext cx="12191999" cy="6879853"/>
          </a:xfrm>
          <a:prstGeom prst="rect">
            <a:avLst/>
          </a:prstGeom>
          <a:solidFill>
            <a:srgbClr val="27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grpSp>
        <p:nvGrpSpPr>
          <p:cNvPr id="6" name="Groupe 1">
            <a:extLst>
              <a:ext uri="{FF2B5EF4-FFF2-40B4-BE49-F238E27FC236}">
                <a16:creationId xmlns:a16="http://schemas.microsoft.com/office/drawing/2014/main" id="{7D121029-30A9-C936-147F-B44C9DB40E21}"/>
              </a:ext>
              <a:ext uri="{C183D7F6-B498-43B3-948B-1728B52AA6E4}">
                <adec:decorative xmlns:adec="http://schemas.microsoft.com/office/drawing/2017/decorative" val="1"/>
              </a:ext>
            </a:extLst>
          </p:cNvPr>
          <p:cNvGrpSpPr>
            <a:grpSpLocks noChangeAspect="1"/>
          </p:cNvGrpSpPr>
          <p:nvPr/>
        </p:nvGrpSpPr>
        <p:grpSpPr>
          <a:xfrm>
            <a:off x="11562163" y="205059"/>
            <a:ext cx="419436" cy="388988"/>
            <a:chOff x="11501102" y="171573"/>
            <a:chExt cx="419436" cy="388988"/>
          </a:xfrm>
        </p:grpSpPr>
        <p:sp>
          <p:nvSpPr>
            <p:cNvPr id="12" name="Freeform 13">
              <a:extLst>
                <a:ext uri="{FF2B5EF4-FFF2-40B4-BE49-F238E27FC236}">
                  <a16:creationId xmlns:a16="http://schemas.microsoft.com/office/drawing/2014/main" id="{6AAB6818-D7E9-283C-8ED7-05EB655E9C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4" name="Freeform 14">
              <a:extLst>
                <a:ext uri="{FF2B5EF4-FFF2-40B4-BE49-F238E27FC236}">
                  <a16:creationId xmlns:a16="http://schemas.microsoft.com/office/drawing/2014/main" id="{3DBC6E8A-6B85-252D-644F-DC79FFA0BF5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17" name="object 5">
            <a:extLst>
              <a:ext uri="{FF2B5EF4-FFF2-40B4-BE49-F238E27FC236}">
                <a16:creationId xmlns:a16="http://schemas.microsoft.com/office/drawing/2014/main" id="{088A8A53-950C-3A44-020D-0E4DDF7C7320}"/>
              </a:ext>
            </a:extLst>
          </p:cNvPr>
          <p:cNvSpPr txBox="1">
            <a:spLocks/>
          </p:cNvSpPr>
          <p:nvPr/>
        </p:nvSpPr>
        <p:spPr>
          <a:xfrm>
            <a:off x="964660" y="2530475"/>
            <a:ext cx="10262680" cy="1361499"/>
          </a:xfrm>
          <a:prstGeom prst="rect">
            <a:avLst/>
          </a:prstGeom>
          <a:noFill/>
          <a:ln>
            <a:noFill/>
            <a:prstDash/>
          </a:ln>
          <a:effectLst/>
        </p:spPr>
        <p:txBody>
          <a:bodyPr rot="0" spcFirstLastPara="0" vertOverflow="overflow" horzOverflow="overflow" vert="horz" wrap="square" lIns="0" tIns="177900" rIns="0" bIns="0" numCol="1" spcCol="0" rtlCol="0" fromWordArt="0" anchor="t" anchorCtr="0" forceAA="0" compatLnSpc="1">
            <a:prstTxWarp prst="textNoShape">
              <a:avLst/>
            </a:prstTxWarp>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7701" marR="3081" lvl="0" indent="0" algn="l" defTabSz="914400" rtl="0" eaLnBrk="1" fontAlgn="auto" latinLnBrk="0" hangingPunct="1">
              <a:lnSpc>
                <a:spcPct val="79800"/>
              </a:lnSpc>
              <a:spcBef>
                <a:spcPts val="1401"/>
              </a:spcBef>
              <a:spcAft>
                <a:spcPts val="0"/>
              </a:spcAft>
              <a:buClrTx/>
              <a:buSzTx/>
              <a:buFontTx/>
              <a:buNone/>
              <a:tabLst/>
              <a:defRPr/>
            </a:pPr>
            <a:r>
              <a:rPr kumimoji="0" lang="en-GB" sz="9600" b="0" i="0" u="none" strike="noStrike" kern="1200" cap="none" spc="-121" normalizeH="0" baseline="0" noProof="0">
                <a:ln>
                  <a:noFill/>
                </a:ln>
                <a:solidFill>
                  <a:srgbClr val="FFFFFF"/>
                </a:solidFill>
                <a:effectLst/>
                <a:uLnTx/>
                <a:uFillTx/>
                <a:latin typeface="Ubuntu Medium"/>
                <a:ea typeface="+mj-ea"/>
                <a:cs typeface="Ubuntu Light"/>
              </a:rPr>
              <a:t>Thank You</a:t>
            </a:r>
            <a:endParaRPr kumimoji="0" lang="en-GB" sz="9600" b="0" i="0" u="none" strike="noStrike" kern="1200" cap="none" spc="0" normalizeH="0" baseline="0" noProof="0">
              <a:ln>
                <a:noFill/>
              </a:ln>
              <a:solidFill>
                <a:prstClr val="black"/>
              </a:solidFill>
              <a:effectLst/>
              <a:uLnTx/>
              <a:uFillTx/>
              <a:latin typeface="Ubuntu Medium"/>
              <a:ea typeface="+mj-ea"/>
              <a:cs typeface="Ubuntu Light"/>
            </a:endParaRPr>
          </a:p>
        </p:txBody>
      </p:sp>
    </p:spTree>
    <p:extLst>
      <p:ext uri="{BB962C8B-B14F-4D97-AF65-F5344CB8AC3E}">
        <p14:creationId xmlns:p14="http://schemas.microsoft.com/office/powerpoint/2010/main" val="1861951628"/>
      </p:ext>
    </p:extLst>
  </p:cSld>
  <p:clrMapOvr>
    <a:masterClrMapping/>
  </p:clrMapOvr>
</p:sld>
</file>

<file path=ppt/theme/theme1.xml><?xml version="1.0" encoding="utf-8"?>
<a:theme xmlns:a="http://schemas.openxmlformats.org/drawingml/2006/main" name="1_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pptx" id="{CAED51C0-F65D-4BF6-BF3B-AADDC8FCC7A2}" vid="{4D682C99-A36A-4849-ABF2-97DF139CA549}"/>
    </a:ext>
  </a:extLst>
</a:theme>
</file>

<file path=ppt/theme/theme2.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pptx" id="{CAED51C0-F65D-4BF6-BF3B-AADDC8FCC7A2}" vid="{4D682C99-A36A-4849-ABF2-97DF139CA54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F4EED2041BB84FAADAEEED37CCA767" ma:contentTypeVersion="22" ma:contentTypeDescription="Create a new document." ma:contentTypeScope="" ma:versionID="954ff4ebb23f7fd76e74602c19edb222">
  <xsd:schema xmlns:xsd="http://www.w3.org/2001/XMLSchema" xmlns:xs="http://www.w3.org/2001/XMLSchema" xmlns:p="http://schemas.microsoft.com/office/2006/metadata/properties" xmlns:ns2="73176d5b-9430-4e66-b33f-41903d64ba6b" xmlns:ns3="75f6b4fc-a96d-4771-97b5-b90f5c6cd162" targetNamespace="http://schemas.microsoft.com/office/2006/metadata/properties" ma:root="true" ma:fieldsID="2a6d7072647e6ca964d284378c95fa8e" ns2:_="" ns3:_="">
    <xsd:import namespace="73176d5b-9430-4e66-b33f-41903d64ba6b"/>
    <xsd:import namespace="75f6b4fc-a96d-4771-97b5-b90f5c6cd16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Location" minOccurs="0"/>
                <xsd:element ref="ns2:AddedtoCampusDate" minOccurs="0"/>
                <xsd:element ref="ns2:AssociatedLearnin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176d5b-9430-4e66-b33f-41903d64ba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Location" ma:index="26" nillable="true" ma:displayName="Location " ma:format="Dropdown" ma:internalName="Location">
      <xsd:simpleType>
        <xsd:restriction base="dms:Text">
          <xsd:maxLength value="255"/>
        </xsd:restriction>
      </xsd:simpleType>
    </xsd:element>
    <xsd:element name="AddedtoCampusDate" ma:index="27" nillable="true" ma:displayName="Added to Degreed Date" ma:format="Dropdown" ma:internalName="AddedtoCampusDate">
      <xsd:simpleType>
        <xsd:restriction base="dms:Text">
          <xsd:maxLength value="255"/>
        </xsd:restriction>
      </xsd:simpleType>
    </xsd:element>
    <xsd:element name="AssociatedLearning" ma:index="28" nillable="true" ma:displayName="Associated Learning " ma:format="Dropdown" ma:internalName="AssociatedLearning">
      <xsd:simpleType>
        <xsd:restriction base="dms:Text">
          <xsd:maxLength value="255"/>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f6b4fc-a96d-4771-97b5-b90f5c6cd16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1938d20-e235-48fa-8a74-77124f4bdd41}" ma:internalName="TaxCatchAll" ma:showField="CatchAllData" ma:web="75f6b4fc-a96d-4771-97b5-b90f5c6cd16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3176d5b-9430-4e66-b33f-41903d64ba6b">
      <Terms xmlns="http://schemas.microsoft.com/office/infopath/2007/PartnerControls"/>
    </lcf76f155ced4ddcb4097134ff3c332f>
    <TaxCatchAll xmlns="75f6b4fc-a96d-4771-97b5-b90f5c6cd162" xsi:nil="true"/>
    <Location xmlns="73176d5b-9430-4e66-b33f-41903d64ba6b" xsi:nil="true"/>
    <AssociatedLearning xmlns="73176d5b-9430-4e66-b33f-41903d64ba6b" xsi:nil="true"/>
    <AddedtoCampusDate xmlns="73176d5b-9430-4e66-b33f-41903d64ba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4B851E-7AFA-4953-AE51-7CFD5A83459B}">
  <ds:schemaRefs>
    <ds:schemaRef ds:uri="73176d5b-9430-4e66-b33f-41903d64ba6b"/>
    <ds:schemaRef ds:uri="75f6b4fc-a96d-4771-97b5-b90f5c6cd16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65A860F-AA42-4543-B3FE-9796F758843F}">
  <ds:schemaRefs>
    <ds:schemaRef ds:uri="73176d5b-9430-4e66-b33f-41903d64ba6b"/>
    <ds:schemaRef ds:uri="75f6b4fc-a96d-4771-97b5-b90f5c6cd16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A4AB5EE-51F2-4B2D-90C7-AD659AEBC4D7}">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Slides>
  <Notes>4</Notes>
  <HiddenSlides>0</HiddenSlides>
  <ScaleCrop>false</ScaleCrop>
  <HeadingPairs>
    <vt:vector size="4" baseType="variant">
      <vt:variant>
        <vt:lpstr>Theme</vt:lpstr>
      </vt:variant>
      <vt:variant>
        <vt:i4>2</vt:i4>
      </vt:variant>
      <vt:variant>
        <vt:lpstr>Slide Titles</vt:lpstr>
      </vt:variant>
      <vt:variant>
        <vt:i4>4</vt:i4>
      </vt:variant>
    </vt:vector>
  </HeadingPairs>
  <TitlesOfParts>
    <vt:vector size="6" baseType="lpstr">
      <vt:lpstr>1_Capgemini_2024</vt:lpstr>
      <vt:lpstr>Capgemini_2024</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Sharma, Sumit</dc:creator>
  <cp:revision>1</cp:revision>
  <dcterms:created xsi:type="dcterms:W3CDTF">2024-12-11T07:14:28Z</dcterms:created>
  <dcterms:modified xsi:type="dcterms:W3CDTF">2025-04-30T14:25:54Z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0x010100C3F4EED2041BB84FAADAEEED37CCA767</vt:lpwstr>
  </property>
  <property fmtid="{D5CDD505-2E9C-101B-9397-08002B2CF9AE}" pid="3" name="MediaServiceImageTags">
    <vt:lpwstr/>
  </property>
</Properties>
</file>