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722" r:id="rId5"/>
  </p:sldMasterIdLst>
  <p:notesMasterIdLst>
    <p:notesMasterId r:id="rId10"/>
  </p:notesMasterIdLst>
  <p:sldIdLst>
    <p:sldId id="257" r:id="rId6"/>
    <p:sldId id="2147482924" r:id="rId7"/>
    <p:sldId id="2147482830" r:id="rId8"/>
    <p:sldId id="214748292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AD"/>
    <a:srgbClr val="1984AA"/>
    <a:srgbClr val="BCE7FF"/>
    <a:srgbClr val="12ABDB"/>
    <a:srgbClr val="1AA1D8"/>
    <a:srgbClr val="0D0E13"/>
    <a:srgbClr val="383B4E"/>
    <a:srgbClr val="298D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938E3F-A74D-9255-0E21-51C12A66C314}" v="21" dt="2025-04-30T14:13:56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033" autoAdjust="0"/>
  </p:normalViewPr>
  <p:slideViewPr>
    <p:cSldViewPr snapToGrid="0">
      <p:cViewPr varScale="1">
        <p:scale>
          <a:sx n="70" d="100"/>
          <a:sy n="70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av, Yash Raj" userId="73c5ece9-f22c-4a30-b5c6-4a70150484d3" providerId="ADAL" clId="{8839DF8E-9F54-4DBF-B6A7-BA1BB5B155F7}"/>
    <pc:docChg chg="undo redo custSel modSld">
      <pc:chgData name="Yadav, Yash Raj" userId="73c5ece9-f22c-4a30-b5c6-4a70150484d3" providerId="ADAL" clId="{8839DF8E-9F54-4DBF-B6A7-BA1BB5B155F7}" dt="2025-04-30T14:28:11.548" v="43" actId="1076"/>
      <pc:docMkLst>
        <pc:docMk/>
      </pc:docMkLst>
      <pc:sldChg chg="modSp mod">
        <pc:chgData name="Yadav, Yash Raj" userId="73c5ece9-f22c-4a30-b5c6-4a70150484d3" providerId="ADAL" clId="{8839DF8E-9F54-4DBF-B6A7-BA1BB5B155F7}" dt="2025-04-30T14:18:33.742" v="37" actId="207"/>
        <pc:sldMkLst>
          <pc:docMk/>
          <pc:sldMk cId="326916843" sldId="2147482830"/>
        </pc:sldMkLst>
        <pc:spChg chg="mod">
          <ac:chgData name="Yadav, Yash Raj" userId="73c5ece9-f22c-4a30-b5c6-4a70150484d3" providerId="ADAL" clId="{8839DF8E-9F54-4DBF-B6A7-BA1BB5B155F7}" dt="2025-04-30T14:17:23.073" v="34" actId="14100"/>
          <ac:spMkLst>
            <pc:docMk/>
            <pc:sldMk cId="326916843" sldId="2147482830"/>
            <ac:spMk id="3" creationId="{EFCFD71E-7C53-B668-E02F-FAC01956EED0}"/>
          </ac:spMkLst>
        </pc:spChg>
        <pc:spChg chg="mod">
          <ac:chgData name="Yadav, Yash Raj" userId="73c5ece9-f22c-4a30-b5c6-4a70150484d3" providerId="ADAL" clId="{8839DF8E-9F54-4DBF-B6A7-BA1BB5B155F7}" dt="2025-04-30T14:18:25.866" v="35" actId="207"/>
          <ac:spMkLst>
            <pc:docMk/>
            <pc:sldMk cId="326916843" sldId="2147482830"/>
            <ac:spMk id="8" creationId="{F69C4B4C-2275-9B87-0041-4DD8FDF30C02}"/>
          </ac:spMkLst>
        </pc:spChg>
        <pc:spChg chg="mod">
          <ac:chgData name="Yadav, Yash Raj" userId="73c5ece9-f22c-4a30-b5c6-4a70150484d3" providerId="ADAL" clId="{8839DF8E-9F54-4DBF-B6A7-BA1BB5B155F7}" dt="2025-04-30T14:18:29.388" v="36" actId="207"/>
          <ac:spMkLst>
            <pc:docMk/>
            <pc:sldMk cId="326916843" sldId="2147482830"/>
            <ac:spMk id="12" creationId="{A0EE4DF6-5D28-3622-586D-80D565B7ECFF}"/>
          </ac:spMkLst>
        </pc:spChg>
        <pc:spChg chg="mod">
          <ac:chgData name="Yadav, Yash Raj" userId="73c5ece9-f22c-4a30-b5c6-4a70150484d3" providerId="ADAL" clId="{8839DF8E-9F54-4DBF-B6A7-BA1BB5B155F7}" dt="2025-04-30T14:18:33.742" v="37" actId="207"/>
          <ac:spMkLst>
            <pc:docMk/>
            <pc:sldMk cId="326916843" sldId="2147482830"/>
            <ac:spMk id="13" creationId="{7372AA5B-3F96-F061-6705-BED52C2EEE52}"/>
          </ac:spMkLst>
        </pc:spChg>
      </pc:sldChg>
      <pc:sldChg chg="modSp mod">
        <pc:chgData name="Yadav, Yash Raj" userId="73c5ece9-f22c-4a30-b5c6-4a70150484d3" providerId="ADAL" clId="{8839DF8E-9F54-4DBF-B6A7-BA1BB5B155F7}" dt="2025-04-30T14:28:11.548" v="43" actId="1076"/>
        <pc:sldMkLst>
          <pc:docMk/>
          <pc:sldMk cId="3322232334" sldId="2147482924"/>
        </pc:sldMkLst>
        <pc:spChg chg="mod">
          <ac:chgData name="Yadav, Yash Raj" userId="73c5ece9-f22c-4a30-b5c6-4a70150484d3" providerId="ADAL" clId="{8839DF8E-9F54-4DBF-B6A7-BA1BB5B155F7}" dt="2025-04-30T14:28:11.548" v="43" actId="1076"/>
          <ac:spMkLst>
            <pc:docMk/>
            <pc:sldMk cId="3322232334" sldId="2147482924"/>
            <ac:spMk id="11" creationId="{E241652D-B33D-70B5-E363-ADFF048CF466}"/>
          </ac:spMkLst>
        </pc:spChg>
        <pc:spChg chg="mod">
          <ac:chgData name="Yadav, Yash Raj" userId="73c5ece9-f22c-4a30-b5c6-4a70150484d3" providerId="ADAL" clId="{8839DF8E-9F54-4DBF-B6A7-BA1BB5B155F7}" dt="2025-04-30T14:28:01.931" v="42" actId="207"/>
          <ac:spMkLst>
            <pc:docMk/>
            <pc:sldMk cId="3322232334" sldId="2147482924"/>
            <ac:spMk id="24" creationId="{669E9077-BB8D-879A-7558-BC0BF73D1931}"/>
          </ac:spMkLst>
        </pc:spChg>
      </pc:sldChg>
    </pc:docChg>
  </pc:docChgLst>
  <pc:docChgLst>
    <pc:chgData name="Yadav, Yash Raj" userId="S::yash-raj.yadav@capgemini.com::73c5ece9-f22c-4a30-b5c6-4a70150484d3" providerId="AD" clId="Web-{5B938E3F-A74D-9255-0E21-51C12A66C314}"/>
    <pc:docChg chg="modSld">
      <pc:chgData name="Yadav, Yash Raj" userId="S::yash-raj.yadav@capgemini.com::73c5ece9-f22c-4a30-b5c6-4a70150484d3" providerId="AD" clId="Web-{5B938E3F-A74D-9255-0E21-51C12A66C314}" dt="2025-04-30T14:13:55.954" v="9" actId="14100"/>
      <pc:docMkLst>
        <pc:docMk/>
      </pc:docMkLst>
      <pc:sldChg chg="modSp">
        <pc:chgData name="Yadav, Yash Raj" userId="S::yash-raj.yadav@capgemini.com::73c5ece9-f22c-4a30-b5c6-4a70150484d3" providerId="AD" clId="Web-{5B938E3F-A74D-9255-0E21-51C12A66C314}" dt="2025-04-30T14:13:55.954" v="9" actId="14100"/>
        <pc:sldMkLst>
          <pc:docMk/>
          <pc:sldMk cId="1663957642" sldId="257"/>
        </pc:sldMkLst>
        <pc:spChg chg="mod">
          <ac:chgData name="Yadav, Yash Raj" userId="S::yash-raj.yadav@capgemini.com::73c5ece9-f22c-4a30-b5c6-4a70150484d3" providerId="AD" clId="Web-{5B938E3F-A74D-9255-0E21-51C12A66C314}" dt="2025-04-30T14:13:55.954" v="9" actId="14100"/>
          <ac:spMkLst>
            <pc:docMk/>
            <pc:sldMk cId="1663957642" sldId="257"/>
            <ac:spMk id="4" creationId="{72E17076-991C-431A-9B77-E8363D54BDC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9B76A-4F7D-4E36-83F0-A884D71F268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C9D03-EA1B-41EE-9580-4BF7FC9B9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1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ffectLst/>
                <a:latin typeface="-apple-system"/>
              </a:rPr>
              <a:t>Welcome to this training session of prompt detailed </a:t>
            </a:r>
            <a:r>
              <a:rPr lang="en-US"/>
              <a:t>"Here, we’ll dive into the detailed features of prompt X, illustrated with an e-commerce chatbot example."</a:t>
            </a:r>
          </a:p>
          <a:p>
            <a:endParaRPr lang="en-US"/>
          </a:p>
          <a:p>
            <a:r>
              <a:rPr lang="en-US">
                <a:effectLst/>
                <a:latin typeface="-apple-system"/>
              </a:rPr>
              <a:t> 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71A529-52D4-4CBB-B961-704D966D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08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548F-816D-241E-5C0D-AFE2C845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B8802-7C59-0CB8-0159-F7146473C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384C2-9860-726E-7CC8-012AC2E36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we’ll explore the concept of using </a:t>
            </a:r>
            <a:r>
              <a:rPr lang="en-US" b="1"/>
              <a:t>Multiple Data Sources</a:t>
            </a:r>
            <a:r>
              <a:rPr lang="en-US"/>
              <a:t> in Retrieval-Augmented Generation (RAG), linked to the e-commerce customer support chat application.</a:t>
            </a:r>
          </a:p>
          <a:p>
            <a:endParaRPr lang="en-US"/>
          </a:p>
          <a:p>
            <a:r>
              <a:rPr lang="en-US" b="1"/>
              <a:t>Key Concepts</a:t>
            </a:r>
          </a:p>
          <a:p>
            <a:endParaRPr lang="en-US" b="1"/>
          </a:p>
          <a:p>
            <a:r>
              <a:rPr lang="en-US" b="1"/>
              <a:t>1. Website Integration</a:t>
            </a:r>
            <a:br>
              <a:rPr lang="en-US"/>
            </a:br>
            <a:r>
              <a:rPr lang="en-US"/>
              <a:t>"This feature enables querying unstructured data directly from websites, such as product pages or FAQs.“</a:t>
            </a:r>
          </a:p>
          <a:p>
            <a:endParaRPr lang="en-US"/>
          </a:p>
          <a:p>
            <a:r>
              <a:rPr lang="en-US" b="1"/>
              <a:t>Implementation </a:t>
            </a:r>
          </a:p>
          <a:p>
            <a:r>
              <a:rPr lang="en-US" b="1" err="1"/>
              <a:t>UnstructuredURLLoader</a:t>
            </a:r>
            <a:r>
              <a:rPr lang="en-US"/>
              <a:t> from </a:t>
            </a:r>
            <a:r>
              <a:rPr lang="en-US" err="1"/>
              <a:t>LangChain</a:t>
            </a:r>
            <a:r>
              <a:rPr lang="en-US"/>
              <a:t> extracts website content for embedding and retrieval.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loaded data undergoes the RAG pipeline to generate contextually relevant answers.</a:t>
            </a:r>
          </a:p>
          <a:p>
            <a:pPr>
              <a:buFont typeface="Arial" panose="020B0604020202020204" pitchFamily="34" charset="0"/>
              <a:buNone/>
            </a:pPr>
            <a:endParaRPr lang="en-US"/>
          </a:p>
          <a:p>
            <a:r>
              <a:rPr lang="en-US" b="1"/>
              <a:t>E-commerce Use Case: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If a customer asks about shipping policies, the agent retrieves content directly from the e-commerce website.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2. Confluence Integration</a:t>
            </a:r>
            <a:br>
              <a:rPr lang="en-US"/>
            </a:br>
            <a:r>
              <a:rPr lang="en-US"/>
              <a:t>"Integrating Confluence allows querying internal knowledge spaces, such as team manuals or product support documents.“</a:t>
            </a:r>
          </a:p>
          <a:p>
            <a:endParaRPr lang="en-US"/>
          </a:p>
          <a:p>
            <a:r>
              <a:rPr lang="en-US" b="1"/>
              <a:t>Implementation </a:t>
            </a:r>
          </a:p>
          <a:p>
            <a:r>
              <a:rPr lang="en-US" b="1" err="1"/>
              <a:t>ConfluenceLoader</a:t>
            </a:r>
            <a:r>
              <a:rPr lang="en-US"/>
              <a:t> from </a:t>
            </a:r>
            <a:r>
              <a:rPr lang="en-US" err="1"/>
              <a:t>LangChain</a:t>
            </a:r>
            <a:r>
              <a:rPr lang="en-US"/>
              <a:t> fetches data securely after user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Supports querying pages, blog posts, and other content types.</a:t>
            </a:r>
          </a:p>
          <a:p>
            <a:pPr>
              <a:buFont typeface="Arial" panose="020B0604020202020204" pitchFamily="34" charset="0"/>
              <a:buNone/>
            </a:pPr>
            <a:endParaRPr lang="en-US"/>
          </a:p>
          <a:p>
            <a:r>
              <a:rPr lang="en-US" b="1"/>
              <a:t>E-commerce Use Case: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 support agent retrieves troubleshooting guides for a product directly from the company’s Confluence space to assist a customer.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Benefits</a:t>
            </a:r>
          </a:p>
          <a:p>
            <a:pPr>
              <a:buFont typeface="+mj-lt"/>
              <a:buAutoNum type="arabicPeriod"/>
            </a:pPr>
            <a:r>
              <a:rPr lang="en-US" b="1"/>
              <a:t>Expanded Knowledge Access</a:t>
            </a:r>
            <a:r>
              <a:rPr lang="en-US"/>
              <a:t>: Retrieves data from multiple sources like websites and internal documents.</a:t>
            </a:r>
          </a:p>
          <a:p>
            <a:pPr>
              <a:buFont typeface="+mj-lt"/>
              <a:buAutoNum type="arabicPeriod"/>
            </a:pPr>
            <a:r>
              <a:rPr lang="en-US" b="1"/>
              <a:t>Contextual Relevance</a:t>
            </a:r>
            <a:r>
              <a:rPr lang="en-US"/>
              <a:t>: Combines external and internal knowledge for precise responses.</a:t>
            </a:r>
          </a:p>
          <a:p>
            <a:pPr>
              <a:buFont typeface="+mj-lt"/>
              <a:buAutoNum type="arabicPeriod"/>
            </a:pPr>
            <a:r>
              <a:rPr lang="en-US" b="1"/>
              <a:t>Improved Support Efficiency</a:t>
            </a:r>
            <a:r>
              <a:rPr lang="en-US"/>
              <a:t>: Speeds up resolutions by accessing comprehensive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8D91C-0F50-8ED1-1D48-729814656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51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Admin Dashboard, a powerful tool for monitoring and managing the performance and resource usage within the system. It provides valuable insights into model usage, user activity, and model performance. </a:t>
            </a:r>
          </a:p>
          <a:p>
            <a:r>
              <a:rPr lang="en-IN" b="1"/>
              <a:t>Key Sections:</a:t>
            </a:r>
          </a:p>
          <a:p>
            <a:r>
              <a:rPr lang="en-IN" b="1"/>
              <a:t>1)Statistics Overview</a:t>
            </a:r>
            <a:r>
              <a:rPr lang="en-IN"/>
              <a:t> section is where we get a high-level view of key metrics. Here, we can see the </a:t>
            </a:r>
            <a:r>
              <a:rPr lang="en-IN" b="1"/>
              <a:t>Credits Used per Model</a:t>
            </a:r>
            <a:r>
              <a:rPr lang="en-IN"/>
              <a:t>, which helps in understanding how much resource each model is consuming. This helps in evaluating model efficiency and cost-effectiveness, allowing admins to make informed decisions.</a:t>
            </a:r>
          </a:p>
          <a:p>
            <a:r>
              <a:rPr lang="en-IN" b="1"/>
              <a:t>2)User Activity</a:t>
            </a:r>
            <a:r>
              <a:rPr lang="en-IN"/>
              <a:t> This part is divided into two key components:</a:t>
            </a:r>
          </a:p>
          <a:p>
            <a:pPr>
              <a:buFont typeface="+mj-lt"/>
              <a:buNone/>
            </a:pPr>
            <a:r>
              <a:rPr lang="en-IN" b="1"/>
              <a:t>a)Top 10 Active Users</a:t>
            </a:r>
            <a:r>
              <a:rPr lang="en-IN"/>
              <a:t>: This list shows the top 10 users based on their credit usage, allowing admins to easily identify the most active users.</a:t>
            </a:r>
          </a:p>
          <a:p>
            <a:pPr>
              <a:buFont typeface="+mj-lt"/>
              <a:buNone/>
            </a:pPr>
            <a:r>
              <a:rPr lang="en-IN" b="1"/>
              <a:t>b)User-wise Credit Usage</a:t>
            </a:r>
            <a:r>
              <a:rPr lang="en-IN"/>
              <a:t>: Here, we get a detailed breakdown of credit usage by individual users, helping admins identify heavy users and allocate resources accordingly</a:t>
            </a:r>
          </a:p>
          <a:p>
            <a:pPr>
              <a:buFont typeface="+mj-lt"/>
              <a:buNone/>
            </a:pPr>
            <a:r>
              <a:rPr lang="en-IN" b="1"/>
              <a:t>3)Model Performance</a:t>
            </a:r>
            <a:r>
              <a:rPr lang="en-IN"/>
              <a:t> section, we track the </a:t>
            </a:r>
            <a:r>
              <a:rPr lang="en-IN" b="1"/>
              <a:t>Credits Used per Model per Day</a:t>
            </a:r>
            <a:r>
              <a:rPr lang="en-IN"/>
              <a:t>. This is represented in a bar graph, offering a visual representation of daily credit consumption across different models. It helps identify usage trends, so admins can predict future credit requirements and optimize model usage.</a:t>
            </a:r>
          </a:p>
          <a:p>
            <a:pPr>
              <a:buFont typeface="+mj-lt"/>
              <a:buNone/>
            </a:pPr>
            <a:endParaRPr lang="en-IN"/>
          </a:p>
          <a:p>
            <a:endParaRPr lang="en-IN"/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36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62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4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9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674913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37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765034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6510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s slide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405267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566356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se slide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38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84450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94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2613583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93919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09415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42877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2962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12868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654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42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3778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944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647941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44116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86795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6059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6000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3950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3915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19573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3392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9022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0203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03246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8140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112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0521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4229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6986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5265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222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1634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705957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3013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54231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74708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gradi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433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40140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3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6F7D79-F798-4363-8E9B-6BAAC637D4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Insert Picture and send to back</a:t>
            </a:r>
          </a:p>
          <a:p>
            <a:endParaRPr lang="en-US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1D5C5CA-E0F9-4194-9FD7-26150AB2A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3" y="4561383"/>
            <a:ext cx="11386134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A39C93-A915-45D6-953A-AAC473CA2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813" y="2847127"/>
            <a:ext cx="11386134" cy="1661993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90000"/>
              </a:lnSpc>
              <a:defRPr sz="6000" b="1" baseline="0"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9">
            <a:extLst>
              <a:ext uri="{FF2B5EF4-FFF2-40B4-BE49-F238E27FC236}">
                <a16:creationId xmlns:a16="http://schemas.microsoft.com/office/drawing/2014/main" id="{2EC1376B-6D90-49FF-A3E6-C79ABC9F4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4050" y="622811"/>
            <a:ext cx="2239484" cy="49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95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-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43">
            <a:extLst>
              <a:ext uri="{FF2B5EF4-FFF2-40B4-BE49-F238E27FC236}">
                <a16:creationId xmlns:a16="http://schemas.microsoft.com/office/drawing/2014/main" id="{17C88DCA-1687-9D3F-510F-DB7805134421}"/>
              </a:ext>
            </a:extLst>
          </p:cNvPr>
          <p:cNvSpPr/>
          <p:nvPr userDrawn="1"/>
        </p:nvSpPr>
        <p:spPr>
          <a:xfrm>
            <a:off x="11791753" y="6517658"/>
            <a:ext cx="229263" cy="215444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/>
          <a:p>
            <a:pPr algn="l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1E59FAA2-8181-BDD8-824F-A01749096477}"/>
              </a:ext>
            </a:extLst>
          </p:cNvPr>
          <p:cNvSpPr/>
          <p:nvPr userDrawn="1"/>
        </p:nvSpPr>
        <p:spPr>
          <a:xfrm>
            <a:off x="9229693" y="6573738"/>
            <a:ext cx="2529539" cy="107722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Confidential © Capgemini 2024. All rights reserved |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5FF068-636F-FDE9-F99D-FF2C8F01D6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53998" y="246534"/>
            <a:ext cx="2267018" cy="509586"/>
            <a:chOff x="9550400" y="612775"/>
            <a:chExt cx="2231297" cy="501650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4BAD855-4C24-DA81-1801-ACD41EA8DA9E}"/>
                </a:ext>
              </a:extLst>
            </p:cNvPr>
            <p:cNvSpPr/>
            <p:nvPr/>
          </p:nvSpPr>
          <p:spPr>
            <a:xfrm>
              <a:off x="11517270" y="764033"/>
              <a:ext cx="261161" cy="212194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C501C08-6771-1D76-A8BF-DD49B8B44D96}"/>
                </a:ext>
              </a:extLst>
            </p:cNvPr>
            <p:cNvSpPr/>
            <p:nvPr/>
          </p:nvSpPr>
          <p:spPr>
            <a:xfrm>
              <a:off x="9550400" y="619305"/>
              <a:ext cx="1811806" cy="495120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EC51FB6-DA41-76CA-151C-129A49D0FF7F}"/>
                </a:ext>
              </a:extLst>
            </p:cNvPr>
            <p:cNvSpPr/>
            <p:nvPr/>
          </p:nvSpPr>
          <p:spPr>
            <a:xfrm>
              <a:off x="10915493" y="643771"/>
              <a:ext cx="54409" cy="59850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7ADD8B-B135-F93F-C7B3-AD675266769C}"/>
                </a:ext>
              </a:extLst>
            </p:cNvPr>
            <p:cNvSpPr/>
            <p:nvPr/>
          </p:nvSpPr>
          <p:spPr>
            <a:xfrm>
              <a:off x="11270254" y="654106"/>
              <a:ext cx="54409" cy="54409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1FD4D15-BBB5-B7B0-EDB9-987A0FD642E6}"/>
                </a:ext>
              </a:extLst>
            </p:cNvPr>
            <p:cNvSpPr/>
            <p:nvPr/>
          </p:nvSpPr>
          <p:spPr>
            <a:xfrm>
              <a:off x="11384515" y="612775"/>
              <a:ext cx="397182" cy="331893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4416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17980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47856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269363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a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9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01956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74490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 slide 3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759808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1201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e slide 3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3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56916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10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47629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439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363207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3666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31346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82759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331153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744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39910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839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9576533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639207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90806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49093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2178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7138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77693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05744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211123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71277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85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9847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377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33376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833519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91211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962439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5463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29952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628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9786799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62633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5938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03574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adient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8990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62463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-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>
            <a:extLst>
              <a:ext uri="{FF2B5EF4-FFF2-40B4-BE49-F238E27FC236}">
                <a16:creationId xmlns:a16="http://schemas.microsoft.com/office/drawing/2014/main" id="{4A965C7A-B63C-476C-A4A7-F1DA082B5A6A}"/>
              </a:ext>
            </a:extLst>
          </p:cNvPr>
          <p:cNvGrpSpPr>
            <a:grpSpLocks/>
          </p:cNvGrpSpPr>
          <p:nvPr userDrawn="1"/>
        </p:nvGrpSpPr>
        <p:grpSpPr>
          <a:xfrm>
            <a:off x="11562163" y="207582"/>
            <a:ext cx="419436" cy="388988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3" name="Freeform 320">
              <a:extLst>
                <a:ext uri="{FF2B5EF4-FFF2-40B4-BE49-F238E27FC236}">
                  <a16:creationId xmlns:a16="http://schemas.microsoft.com/office/drawing/2014/main" id="{08780755-E109-45E3-9564-937AFC868C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321">
              <a:extLst>
                <a:ext uri="{FF2B5EF4-FFF2-40B4-BE49-F238E27FC236}">
                  <a16:creationId xmlns:a16="http://schemas.microsoft.com/office/drawing/2014/main" id="{0B189194-351B-46D6-A408-2F6B6B57F0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Footer Slide number">
            <a:extLst>
              <a:ext uri="{FF2B5EF4-FFF2-40B4-BE49-F238E27FC236}">
                <a16:creationId xmlns:a16="http://schemas.microsoft.com/office/drawing/2014/main" id="{CA4932B0-5EDB-11C1-C0EA-1A270DFCC493}"/>
              </a:ext>
            </a:extLst>
          </p:cNvPr>
          <p:cNvSpPr/>
          <p:nvPr userDrawn="1"/>
        </p:nvSpPr>
        <p:spPr>
          <a:xfrm>
            <a:off x="11744128" y="6541977"/>
            <a:ext cx="229263" cy="20005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700" smtClean="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700">
              <a:solidFill>
                <a:srgbClr val="A6A6A6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Footer Copyright">
            <a:extLst>
              <a:ext uri="{FF2B5EF4-FFF2-40B4-BE49-F238E27FC236}">
                <a16:creationId xmlns:a16="http://schemas.microsoft.com/office/drawing/2014/main" id="{D35ED927-78C1-3D65-791E-7A43547DAE40}"/>
              </a:ext>
            </a:extLst>
          </p:cNvPr>
          <p:cNvSpPr/>
          <p:nvPr userDrawn="1"/>
        </p:nvSpPr>
        <p:spPr>
          <a:xfrm>
            <a:off x="7257892" y="6532276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t> Company Confidential © Capgemini 2024. All rights reserved |</a:t>
            </a:r>
          </a:p>
        </p:txBody>
      </p:sp>
      <p:sp>
        <p:nvSpPr>
          <p:cNvPr id="7" name="Footer Copyright">
            <a:extLst>
              <a:ext uri="{FF2B5EF4-FFF2-40B4-BE49-F238E27FC236}">
                <a16:creationId xmlns:a16="http://schemas.microsoft.com/office/drawing/2014/main" id="{1B3E4988-752C-EBE0-809A-6C52F4E634A0}"/>
              </a:ext>
            </a:extLst>
          </p:cNvPr>
          <p:cNvSpPr/>
          <p:nvPr userDrawn="1"/>
        </p:nvSpPr>
        <p:spPr>
          <a:xfrm>
            <a:off x="401946" y="6532276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t>Generative AI for Software Engineering | Measurement protocol</a:t>
            </a:r>
          </a:p>
        </p:txBody>
      </p:sp>
    </p:spTree>
    <p:extLst>
      <p:ext uri="{BB962C8B-B14F-4D97-AF65-F5344CB8AC3E}">
        <p14:creationId xmlns:p14="http://schemas.microsoft.com/office/powerpoint/2010/main" val="91234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02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theme" Target="../theme/theme2.xml"/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62086BA9-1591-C6CD-E573-A5F8961683B1}"/>
              </a:ext>
            </a:extLst>
          </p:cNvPr>
          <p:cNvSpPr/>
          <p:nvPr userDrawn="1"/>
        </p:nvSpPr>
        <p:spPr>
          <a:xfrm>
            <a:off x="40683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Presentation Title  |  Author  |  Date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2024.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87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2024.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9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57" r:id="rId35"/>
    <p:sldLayoutId id="2147483758" r:id="rId36"/>
    <p:sldLayoutId id="2147483759" r:id="rId37"/>
    <p:sldLayoutId id="2147483760" r:id="rId38"/>
    <p:sldLayoutId id="2147483761" r:id="rId39"/>
    <p:sldLayoutId id="2147483762" r:id="rId40"/>
    <p:sldLayoutId id="2147483763" r:id="rId41"/>
    <p:sldLayoutId id="2147483764" r:id="rId42"/>
    <p:sldLayoutId id="2147483765" r:id="rId43"/>
    <p:sldLayoutId id="2147483766" r:id="rId44"/>
    <p:sldLayoutId id="2147483767" r:id="rId45"/>
    <p:sldLayoutId id="2147483768" r:id="rId46"/>
    <p:sldLayoutId id="2147483769" r:id="rId47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erson's eye">
            <a:extLst>
              <a:ext uri="{FF2B5EF4-FFF2-40B4-BE49-F238E27FC236}">
                <a16:creationId xmlns:a16="http://schemas.microsoft.com/office/drawing/2014/main" id="{D666B677-1F70-A9DA-76C5-6EEB94CBCA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23" b="118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7B76C8D-47BB-8EF6-E421-F03820FCA273}"/>
              </a:ext>
            </a:extLst>
          </p:cNvPr>
          <p:cNvSpPr/>
          <p:nvPr/>
        </p:nvSpPr>
        <p:spPr>
          <a:xfrm>
            <a:off x="0" y="9832"/>
            <a:ext cx="12192001" cy="6858000"/>
          </a:xfrm>
          <a:prstGeom prst="rect">
            <a:avLst/>
          </a:prstGeom>
          <a:gradFill>
            <a:gsLst>
              <a:gs pos="33000">
                <a:srgbClr val="121319">
                  <a:alpha val="0"/>
                </a:srgbClr>
              </a:gs>
              <a:gs pos="0">
                <a:schemeClr val="tx1">
                  <a:alpha val="29000"/>
                </a:schemeClr>
              </a:gs>
              <a:gs pos="96000">
                <a:srgbClr val="272936">
                  <a:alpha val="6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9EF106-62EE-2BA8-7B5B-C03F8F0B43DE}"/>
              </a:ext>
            </a:extLst>
          </p:cNvPr>
          <p:cNvGrpSpPr>
            <a:grpSpLocks noChangeAspect="1"/>
          </p:cNvGrpSpPr>
          <p:nvPr/>
        </p:nvGrpSpPr>
        <p:grpSpPr>
          <a:xfrm>
            <a:off x="9422553" y="611981"/>
            <a:ext cx="2267018" cy="509586"/>
            <a:chOff x="9550400" y="612775"/>
            <a:chExt cx="2231297" cy="501650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5AB8AE9-73A4-4BA6-50FA-AD8E456DCDB5}"/>
                </a:ext>
              </a:extLst>
            </p:cNvPr>
            <p:cNvSpPr/>
            <p:nvPr/>
          </p:nvSpPr>
          <p:spPr>
            <a:xfrm>
              <a:off x="11517270" y="764033"/>
              <a:ext cx="261161" cy="212194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D35C33-A153-3E36-0667-4BBA4DC6778A}"/>
                </a:ext>
              </a:extLst>
            </p:cNvPr>
            <p:cNvSpPr/>
            <p:nvPr/>
          </p:nvSpPr>
          <p:spPr>
            <a:xfrm>
              <a:off x="9550400" y="619305"/>
              <a:ext cx="1811806" cy="495120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ABA1E-505C-F833-A58D-3263A17FABB7}"/>
                </a:ext>
              </a:extLst>
            </p:cNvPr>
            <p:cNvSpPr/>
            <p:nvPr/>
          </p:nvSpPr>
          <p:spPr>
            <a:xfrm>
              <a:off x="10915493" y="643771"/>
              <a:ext cx="54409" cy="59850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8D89E3B-F0F8-066B-3FEC-5F7EC08933E3}"/>
                </a:ext>
              </a:extLst>
            </p:cNvPr>
            <p:cNvSpPr/>
            <p:nvPr/>
          </p:nvSpPr>
          <p:spPr>
            <a:xfrm>
              <a:off x="11270254" y="654106"/>
              <a:ext cx="54409" cy="54409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80A888D-AF01-7CE2-1D48-3895E5BE7B10}"/>
                </a:ext>
              </a:extLst>
            </p:cNvPr>
            <p:cNvSpPr/>
            <p:nvPr/>
          </p:nvSpPr>
          <p:spPr>
            <a:xfrm>
              <a:off x="11384515" y="612775"/>
              <a:ext cx="397182" cy="331893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1F918314-209B-C682-4536-929BA12460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45" y="-45752"/>
            <a:ext cx="654359" cy="3096097"/>
          </a:xfrm>
          <a:prstGeom prst="rect">
            <a:avLst/>
          </a:prstGeom>
        </p:spPr>
      </p:pic>
      <p:pic>
        <p:nvPicPr>
          <p:cNvPr id="28" name="Picture 27" descr="A picture containing shape&#10;&#10;Description automatically generated">
            <a:extLst>
              <a:ext uri="{FF2B5EF4-FFF2-40B4-BE49-F238E27FC236}">
                <a16:creationId xmlns:a16="http://schemas.microsoft.com/office/drawing/2014/main" id="{DE949792-8003-650D-8182-7561F7D98C8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4" y="1155920"/>
            <a:ext cx="1767503" cy="1900298"/>
          </a:xfrm>
          <a:prstGeom prst="rect">
            <a:avLst/>
          </a:prstGeom>
        </p:spPr>
      </p:pic>
      <p:pic>
        <p:nvPicPr>
          <p:cNvPr id="40" name="Picture 39" descr="A picture containing venn diagram&#10;&#10;Description automatically generated">
            <a:extLst>
              <a:ext uri="{FF2B5EF4-FFF2-40B4-BE49-F238E27FC236}">
                <a16:creationId xmlns:a16="http://schemas.microsoft.com/office/drawing/2014/main" id="{29958377-86EE-22F4-52E1-B4B808035A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4562" y="1153881"/>
            <a:ext cx="2913782" cy="6314040"/>
          </a:xfrm>
          <a:custGeom>
            <a:avLst/>
            <a:gdLst>
              <a:gd name="connsiteX0" fmla="*/ 0 w 2913782"/>
              <a:gd name="connsiteY0" fmla="*/ 0 h 6314040"/>
              <a:gd name="connsiteX1" fmla="*/ 2913782 w 2913782"/>
              <a:gd name="connsiteY1" fmla="*/ 0 h 6314040"/>
              <a:gd name="connsiteX2" fmla="*/ 2913782 w 2913782"/>
              <a:gd name="connsiteY2" fmla="*/ 1857124 h 6314040"/>
              <a:gd name="connsiteX3" fmla="*/ 2884350 w 2913782"/>
              <a:gd name="connsiteY3" fmla="*/ 1842846 h 6314040"/>
              <a:gd name="connsiteX4" fmla="*/ 2396994 w 2913782"/>
              <a:gd name="connsiteY4" fmla="*/ 1836867 h 6314040"/>
              <a:gd name="connsiteX5" fmla="*/ 1911714 w 2913782"/>
              <a:gd name="connsiteY5" fmla="*/ 2505060 h 6314040"/>
              <a:gd name="connsiteX6" fmla="*/ 2308831 w 2913782"/>
              <a:gd name="connsiteY6" fmla="*/ 2818157 h 6314040"/>
              <a:gd name="connsiteX7" fmla="*/ 2396212 w 2913782"/>
              <a:gd name="connsiteY7" fmla="*/ 2826796 h 6314040"/>
              <a:gd name="connsiteX8" fmla="*/ 2379574 w 2913782"/>
              <a:gd name="connsiteY8" fmla="*/ 2840081 h 6314040"/>
              <a:gd name="connsiteX9" fmla="*/ 2257947 w 2913782"/>
              <a:gd name="connsiteY9" fmla="*/ 3170282 h 6314040"/>
              <a:gd name="connsiteX10" fmla="*/ 2846305 w 2913782"/>
              <a:gd name="connsiteY10" fmla="*/ 3310028 h 6314040"/>
              <a:gd name="connsiteX11" fmla="*/ 2913782 w 2913782"/>
              <a:gd name="connsiteY11" fmla="*/ 3281273 h 6314040"/>
              <a:gd name="connsiteX12" fmla="*/ 2913782 w 2913782"/>
              <a:gd name="connsiteY12" fmla="*/ 6314040 h 6314040"/>
              <a:gd name="connsiteX13" fmla="*/ 0 w 2913782"/>
              <a:gd name="connsiteY13" fmla="*/ 6314040 h 631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13782" h="6314040">
                <a:moveTo>
                  <a:pt x="0" y="0"/>
                </a:moveTo>
                <a:lnTo>
                  <a:pt x="2913782" y="0"/>
                </a:lnTo>
                <a:lnTo>
                  <a:pt x="2913782" y="1857124"/>
                </a:lnTo>
                <a:lnTo>
                  <a:pt x="2884350" y="1842846"/>
                </a:lnTo>
                <a:cubicBezTo>
                  <a:pt x="2744337" y="1790596"/>
                  <a:pt x="2570823" y="1784475"/>
                  <a:pt x="2396994" y="1836867"/>
                </a:cubicBezTo>
                <a:cubicBezTo>
                  <a:pt x="2049337" y="1941653"/>
                  <a:pt x="1832069" y="2240813"/>
                  <a:pt x="1911714" y="2505060"/>
                </a:cubicBezTo>
                <a:cubicBezTo>
                  <a:pt x="1961492" y="2670214"/>
                  <a:pt x="2115470" y="2782643"/>
                  <a:pt x="2308831" y="2818157"/>
                </a:cubicBezTo>
                <a:lnTo>
                  <a:pt x="2396212" y="2826796"/>
                </a:lnTo>
                <a:lnTo>
                  <a:pt x="2379574" y="2840081"/>
                </a:lnTo>
                <a:cubicBezTo>
                  <a:pt x="2271418" y="2940405"/>
                  <a:pt x="2220504" y="3063799"/>
                  <a:pt x="2257947" y="3170282"/>
                </a:cubicBezTo>
                <a:cubicBezTo>
                  <a:pt x="2317856" y="3340656"/>
                  <a:pt x="2581273" y="3403222"/>
                  <a:pt x="2846305" y="3310028"/>
                </a:cubicBezTo>
                <a:lnTo>
                  <a:pt x="2913782" y="3281273"/>
                </a:lnTo>
                <a:lnTo>
                  <a:pt x="2913782" y="6314040"/>
                </a:lnTo>
                <a:lnTo>
                  <a:pt x="0" y="6314040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E17076-991C-431A-9B77-E8363D54BDC9}"/>
              </a:ext>
            </a:extLst>
          </p:cNvPr>
          <p:cNvSpPr txBox="1">
            <a:spLocks/>
          </p:cNvSpPr>
          <p:nvPr/>
        </p:nvSpPr>
        <p:spPr>
          <a:xfrm>
            <a:off x="128957" y="4191357"/>
            <a:ext cx="12042300" cy="1218795"/>
          </a:xfrm>
          <a:prstGeom prst="rect">
            <a:avLst/>
          </a:prstGeom>
        </p:spPr>
        <p:txBody>
          <a:bodyPr vert="horz" wrap="square" lIns="36000" tIns="0" rIns="36000" bIns="0" rtlCol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0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en-US" sz="4400" b="1" dirty="0"/>
              <a:t>Review and Comment</a:t>
            </a:r>
          </a:p>
          <a:p>
            <a:pPr algn="r"/>
            <a:r>
              <a:rPr lang="en-US" sz="4400" dirty="0">
                <a:latin typeface="Ubuntu"/>
              </a:rPr>
              <a:t> USING</a:t>
            </a:r>
            <a:r>
              <a:rPr lang="en-US" sz="4400" b="1" dirty="0">
                <a:latin typeface="Ubuntu"/>
              </a:rPr>
              <a:t> COPILOT</a:t>
            </a:r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07497265-9E87-C89B-0E67-8A9EEF9327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41" y="5188327"/>
            <a:ext cx="2968307" cy="166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5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C94E-FCF8-05E5-E13B-2EF1EA97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04F03BD9-51EF-4143-9656-774072A8390B}"/>
              </a:ext>
            </a:extLst>
          </p:cNvPr>
          <p:cNvSpPr txBox="1">
            <a:spLocks/>
          </p:cNvSpPr>
          <p:nvPr/>
        </p:nvSpPr>
        <p:spPr>
          <a:xfrm>
            <a:off x="561870" y="-1805152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7846C1C5-B896-9A83-4E11-F8BD0E4CFF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943" y="101457"/>
            <a:ext cx="719455" cy="719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1652D-B33D-70B5-E363-ADFF048CF466}"/>
              </a:ext>
            </a:extLst>
          </p:cNvPr>
          <p:cNvSpPr txBox="1"/>
          <p:nvPr/>
        </p:nvSpPr>
        <p:spPr>
          <a:xfrm>
            <a:off x="372839" y="408477"/>
            <a:ext cx="4586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Review and Comment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23062-759A-A9D5-A5F9-B8D55B932E0B}"/>
              </a:ext>
            </a:extLst>
          </p:cNvPr>
          <p:cNvSpPr txBox="1"/>
          <p:nvPr/>
        </p:nvSpPr>
        <p:spPr>
          <a:xfrm>
            <a:off x="335836" y="1021843"/>
            <a:ext cx="11148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The Review and Comment feature in GitHub Copilot helps streamline code reviews by providing automated feedback on code changes. It enhances collaboration and ensures high-quality code.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62C50F-AAC5-B535-3359-74F5CAE2F654}"/>
              </a:ext>
            </a:extLst>
          </p:cNvPr>
          <p:cNvSpPr/>
          <p:nvPr/>
        </p:nvSpPr>
        <p:spPr>
          <a:xfrm>
            <a:off x="323904" y="1900453"/>
            <a:ext cx="11544192" cy="2533895"/>
          </a:xfrm>
          <a:prstGeom prst="roundRect">
            <a:avLst>
              <a:gd name="adj" fmla="val 7706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AC1C9-4228-C5CC-644E-ACBB2899A87A}"/>
              </a:ext>
            </a:extLst>
          </p:cNvPr>
          <p:cNvSpPr txBox="1"/>
          <p:nvPr/>
        </p:nvSpPr>
        <p:spPr>
          <a:xfrm>
            <a:off x="323904" y="1913358"/>
            <a:ext cx="11544192" cy="715089"/>
          </a:xfrm>
          <a:prstGeom prst="roundRect">
            <a:avLst/>
          </a:prstGeom>
          <a:solidFill>
            <a:srgbClr val="0070AD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Segoe Sans"/>
              </a:rPr>
              <a:t>Why Use Review and Comment?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9E9077-BB8D-879A-7558-BC0BF73D1931}"/>
              </a:ext>
            </a:extLst>
          </p:cNvPr>
          <p:cNvSpPr txBox="1"/>
          <p:nvPr/>
        </p:nvSpPr>
        <p:spPr>
          <a:xfrm>
            <a:off x="561870" y="2641352"/>
            <a:ext cx="11122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b="1" i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Segoe San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Automated Code Reviews: </a:t>
            </a:r>
            <a:r>
              <a:rPr lang="en-US" sz="1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 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Quickly identifies issues and suggests improvements. 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Enhanced Collaboration</a:t>
            </a:r>
            <a:r>
              <a:rPr lang="en-IN" sz="1400" b="0" i="0" dirty="0">
                <a:solidFill>
                  <a:srgbClr val="424242"/>
                </a:solidFill>
                <a:effectLst/>
                <a:latin typeface="Segoe Sans"/>
              </a:rPr>
              <a:t>: 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Provides clear, actionable feedback for team members.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Time</a:t>
            </a:r>
            <a:r>
              <a:rPr lang="en-IN" sz="1400" b="0" i="0" dirty="0">
                <a:solidFill>
                  <a:srgbClr val="424242"/>
                </a:solidFill>
                <a:effectLst/>
                <a:latin typeface="Segoe Sans"/>
              </a:rPr>
              <a:t> </a:t>
            </a:r>
            <a:r>
              <a:rPr lang="en-IN" sz="1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Efficiency</a:t>
            </a:r>
            <a:r>
              <a:rPr lang="en-IN" sz="1400" b="0" i="0" dirty="0">
                <a:solidFill>
                  <a:srgbClr val="424242"/>
                </a:solidFill>
                <a:effectLst/>
                <a:latin typeface="Segoe Sans"/>
              </a:rPr>
              <a:t>: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</a:t>
            </a:r>
            <a:r>
              <a:rPr lang="en-US" sz="1400" b="0" i="0" dirty="0">
                <a:solidFill>
                  <a:schemeClr val="bg1"/>
                </a:solidFill>
                <a:effectLst/>
                <a:latin typeface="Segoe Sans"/>
              </a:rPr>
              <a:t>Saves time by highlighting common issues.</a:t>
            </a:r>
            <a:endParaRPr lang="en-US" sz="1400" i="1" dirty="0">
              <a:solidFill>
                <a:schemeClr val="bg1"/>
              </a:solidFill>
            </a:endParaRPr>
          </a:p>
          <a:p>
            <a:endParaRPr lang="en-US" sz="1400" i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75B602-13AD-9C7A-FA3D-A77635AA5E1E}"/>
              </a:ext>
            </a:extLst>
          </p:cNvPr>
          <p:cNvGrpSpPr/>
          <p:nvPr/>
        </p:nvGrpSpPr>
        <p:grpSpPr>
          <a:xfrm>
            <a:off x="372839" y="4641879"/>
            <a:ext cx="11459132" cy="1822826"/>
            <a:chOff x="372839" y="2321181"/>
            <a:chExt cx="11459132" cy="14355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D08E20E-F989-953D-B5CA-E9A9157BBBF3}"/>
                </a:ext>
              </a:extLst>
            </p:cNvPr>
            <p:cNvGrpSpPr/>
            <p:nvPr/>
          </p:nvGrpSpPr>
          <p:grpSpPr>
            <a:xfrm>
              <a:off x="457200" y="2321181"/>
              <a:ext cx="11316725" cy="1306626"/>
              <a:chOff x="284989" y="5014462"/>
              <a:chExt cx="11659633" cy="148706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87D489C-F781-E42E-EDBF-9DEC92415776}"/>
                  </a:ext>
                </a:extLst>
              </p:cNvPr>
              <p:cNvGrpSpPr/>
              <p:nvPr/>
            </p:nvGrpSpPr>
            <p:grpSpPr>
              <a:xfrm>
                <a:off x="444608" y="5534712"/>
                <a:ext cx="11427437" cy="966811"/>
                <a:chOff x="444608" y="5240845"/>
                <a:chExt cx="11427437" cy="1227596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9AA789AB-DE76-6CFE-6FB1-35FD6599B391}"/>
                    </a:ext>
                  </a:extLst>
                </p:cNvPr>
                <p:cNvSpPr/>
                <p:nvPr/>
              </p:nvSpPr>
              <p:spPr>
                <a:xfrm>
                  <a:off x="444608" y="5379907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dirty="0">
                      <a:solidFill>
                        <a:schemeClr val="bg1"/>
                      </a:solidFill>
                      <a:latin typeface="Ubuntu"/>
                    </a:rPr>
                    <a:t>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dirty="0">
                    <a:solidFill>
                      <a:schemeClr val="bg1"/>
                    </a:solidFill>
                    <a:latin typeface="Ubuntu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Ensuring that all code changes meet the required quality standards before being merged.</a:t>
                  </a: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2A7F40B-96B3-5B53-E75E-45A78E04B5F4}"/>
                    </a:ext>
                  </a:extLst>
                </p:cNvPr>
                <p:cNvSpPr txBox="1"/>
                <p:nvPr/>
              </p:nvSpPr>
              <p:spPr>
                <a:xfrm>
                  <a:off x="594086" y="5240845"/>
                  <a:ext cx="3228194" cy="808123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endParaRPr lang="en-IN" sz="1400" b="1" i="0" dirty="0">
                    <a:solidFill>
                      <a:schemeClr val="bg1"/>
                    </a:solidFill>
                    <a:effectLst/>
                    <a:latin typeface="Segoe Sans"/>
                  </a:endParaRPr>
                </a:p>
                <a:p>
                  <a:pPr algn="ctr">
                    <a:spcBef>
                      <a:spcPct val="0"/>
                    </a:spcBef>
                  </a:pPr>
                  <a:r>
                    <a:rPr lang="en-IN" sz="1400" b="1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Code Quality Assurance:</a:t>
                  </a:r>
                </a:p>
                <a:p>
                  <a:pPr algn="ctr">
                    <a:spcBef>
                      <a:spcPct val="0"/>
                    </a:spcBef>
                  </a:pPr>
                  <a:endParaRPr lang="en-IN" sz="12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C50423AF-560A-EB0A-6720-7AD633447AF1}"/>
                    </a:ext>
                  </a:extLst>
                </p:cNvPr>
                <p:cNvSpPr/>
                <p:nvPr/>
              </p:nvSpPr>
              <p:spPr>
                <a:xfrm>
                  <a:off x="4394858" y="5379907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b="0" i="0" dirty="0">
                    <a:solidFill>
                      <a:schemeClr val="bg1"/>
                    </a:solidFill>
                    <a:effectLst/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dirty="0">
                    <a:solidFill>
                      <a:schemeClr val="bg1"/>
                    </a:solidFill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 Facilitating better communication and collaboration among team members during the code review process .</a:t>
                  </a:r>
                  <a:endPara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267F4C4-0EDB-226D-3000-13ECD5E3F55B}"/>
                    </a:ext>
                  </a:extLst>
                </p:cNvPr>
                <p:cNvSpPr txBox="1"/>
                <p:nvPr/>
              </p:nvSpPr>
              <p:spPr>
                <a:xfrm>
                  <a:off x="4660024" y="5411736"/>
                  <a:ext cx="2834640" cy="352761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IN" sz="1400" b="1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Team Collaboration</a:t>
                  </a:r>
                  <a:endParaRPr lang="en-IN" sz="14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5EA8EEA3-8E88-3BE9-0A85-B7D93C92DA41}"/>
                    </a:ext>
                  </a:extLst>
                </p:cNvPr>
                <p:cNvSpPr/>
                <p:nvPr/>
              </p:nvSpPr>
              <p:spPr>
                <a:xfrm>
                  <a:off x="8345109" y="5411736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 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dirty="0">
                    <a:solidFill>
                      <a:schemeClr val="bg1"/>
                    </a:solidFill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Continuously improving the codebase by integrating automated reviews into the development workflow.</a:t>
                  </a:r>
                  <a:endParaRPr kumimoji="0" 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0B641AF-ADB1-66B0-2A4C-0EDCAAFE11FC}"/>
                    </a:ext>
                  </a:extLst>
                </p:cNvPr>
                <p:cNvSpPr txBox="1"/>
                <p:nvPr/>
              </p:nvSpPr>
              <p:spPr>
                <a:xfrm>
                  <a:off x="8631150" y="5468527"/>
                  <a:ext cx="2834640" cy="352761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IN" sz="1400" b="1" i="0" dirty="0">
                      <a:solidFill>
                        <a:schemeClr val="bg1"/>
                      </a:solidFill>
                      <a:effectLst/>
                      <a:latin typeface="Segoe Sans"/>
                    </a:rPr>
                    <a:t>Continuous Improvement:</a:t>
                  </a:r>
                  <a:endParaRPr lang="en-IN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329E4F-700A-9C8F-AC2D-E0DFF95AB3AE}"/>
                  </a:ext>
                </a:extLst>
              </p:cNvPr>
              <p:cNvSpPr txBox="1"/>
              <p:nvPr/>
            </p:nvSpPr>
            <p:spPr>
              <a:xfrm>
                <a:off x="284989" y="5014462"/>
                <a:ext cx="11659633" cy="518865"/>
              </a:xfrm>
              <a:prstGeom prst="roundRect">
                <a:avLst/>
              </a:prstGeom>
              <a:solidFill>
                <a:srgbClr val="0070AD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600" b="1" i="0" dirty="0">
                    <a:solidFill>
                      <a:schemeClr val="bg1"/>
                    </a:solidFill>
                    <a:effectLst/>
                    <a:latin typeface="Segoe Sans"/>
                  </a:rPr>
                  <a:t>Use</a:t>
                </a:r>
                <a:r>
                  <a:rPr lang="en-IN" sz="1600" b="1" i="0" dirty="0">
                    <a:solidFill>
                      <a:srgbClr val="424242"/>
                    </a:solidFill>
                    <a:effectLst/>
                    <a:latin typeface="Segoe Sans"/>
                  </a:rPr>
                  <a:t> </a:t>
                </a:r>
                <a:r>
                  <a:rPr lang="en-IN" sz="1600" b="1" i="0" dirty="0">
                    <a:solidFill>
                      <a:schemeClr val="bg1"/>
                    </a:solidFill>
                    <a:effectLst/>
                    <a:latin typeface="Segoe Sans"/>
                  </a:rPr>
                  <a:t>Cases</a:t>
                </a:r>
              </a:p>
              <a:p>
                <a:pPr algn="ctr"/>
                <a:endParaRPr lang="en-IN" sz="1200" dirty="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48AC0FE-F77E-BBF1-7F13-A755A3C6D69F}"/>
                </a:ext>
              </a:extLst>
            </p:cNvPr>
            <p:cNvSpPr/>
            <p:nvPr/>
          </p:nvSpPr>
          <p:spPr>
            <a:xfrm>
              <a:off x="372839" y="2323320"/>
              <a:ext cx="11459132" cy="1433455"/>
            </a:xfrm>
            <a:prstGeom prst="roundRect">
              <a:avLst>
                <a:gd name="adj" fmla="val 3790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23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EDD979-123C-880D-6B8F-5778A34D8515}"/>
              </a:ext>
            </a:extLst>
          </p:cNvPr>
          <p:cNvSpPr/>
          <p:nvPr/>
        </p:nvSpPr>
        <p:spPr>
          <a:xfrm>
            <a:off x="1406013" y="3716594"/>
            <a:ext cx="9733935" cy="282185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0A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400" dirty="0" err="1">
              <a:solidFill>
                <a:schemeClr val="tx1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08ECEA2-A0CA-9912-6FCE-458887C585DF}"/>
              </a:ext>
            </a:extLst>
          </p:cNvPr>
          <p:cNvSpPr txBox="1">
            <a:spLocks/>
          </p:cNvSpPr>
          <p:nvPr/>
        </p:nvSpPr>
        <p:spPr>
          <a:xfrm>
            <a:off x="561870" y="-1824817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42F45FDF-4599-B8B5-01B4-99214D8820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958" y="81792"/>
            <a:ext cx="719455" cy="719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86EBE9-0F89-9D21-C1D9-1766595F07B7}"/>
              </a:ext>
            </a:extLst>
          </p:cNvPr>
          <p:cNvSpPr txBox="1"/>
          <p:nvPr/>
        </p:nvSpPr>
        <p:spPr>
          <a:xfrm>
            <a:off x="337030" y="210686"/>
            <a:ext cx="5562325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When to Use R</a:t>
            </a: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Sans"/>
              </a:rPr>
              <a:t>eview and Comment</a:t>
            </a:r>
            <a:r>
              <a:rPr lang="en-US" sz="16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?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7A0D00-882E-3E1D-1D87-FD0A4F3CAF11}"/>
              </a:ext>
            </a:extLst>
          </p:cNvPr>
          <p:cNvSpPr/>
          <p:nvPr/>
        </p:nvSpPr>
        <p:spPr>
          <a:xfrm>
            <a:off x="412355" y="917467"/>
            <a:ext cx="11367289" cy="670347"/>
          </a:xfrm>
          <a:prstGeom prst="roundRect">
            <a:avLst>
              <a:gd name="adj" fmla="val 13727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C4B4C-2275-9B87-0041-4DD8FDF30C02}"/>
              </a:ext>
            </a:extLst>
          </p:cNvPr>
          <p:cNvSpPr txBox="1"/>
          <p:nvPr/>
        </p:nvSpPr>
        <p:spPr>
          <a:xfrm>
            <a:off x="537273" y="920096"/>
            <a:ext cx="10723543" cy="686984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342900" indent="-342900" algn="l">
              <a:spcBef>
                <a:spcPct val="0"/>
              </a:spcBef>
              <a:buAutoNum type="arabicPeriod"/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Ubuntu" panose="020B0504030602030204" pitchFamily="34" charset="0"/>
              </a:rPr>
              <a:t>During Code Review</a:t>
            </a:r>
            <a:r>
              <a:rPr lang="en-US" sz="1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Ubuntu" panose="020B0504030602030204" pitchFamily="34" charset="0"/>
              </a:rPr>
              <a:t>:</a:t>
            </a:r>
          </a:p>
          <a:p>
            <a:pPr algn="l"/>
            <a:endParaRPr lang="en-US" sz="105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lvl="1"/>
            <a:r>
              <a:rPr lang="en-US" sz="1400" b="1" i="0" dirty="0">
                <a:solidFill>
                  <a:schemeClr val="bg1"/>
                </a:solidFill>
                <a:effectLst/>
                <a:latin typeface="Segoe Sans"/>
              </a:rPr>
              <a:t>To quickly identify areas that need improvement or correction.</a:t>
            </a:r>
            <a:endParaRPr lang="en-US" sz="1400" b="1" i="0" u="none" strike="noStrike" baseline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5B99C0-B328-6186-9307-BA8A3808AEF8}"/>
              </a:ext>
            </a:extLst>
          </p:cNvPr>
          <p:cNvSpPr/>
          <p:nvPr/>
        </p:nvSpPr>
        <p:spPr>
          <a:xfrm>
            <a:off x="412354" y="1694729"/>
            <a:ext cx="11367289" cy="855850"/>
          </a:xfrm>
          <a:prstGeom prst="roundRect">
            <a:avLst>
              <a:gd name="adj" fmla="val 4908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E4DF6-5D28-3622-586D-80D565B7ECFF}"/>
              </a:ext>
            </a:extLst>
          </p:cNvPr>
          <p:cNvSpPr txBox="1"/>
          <p:nvPr/>
        </p:nvSpPr>
        <p:spPr>
          <a:xfrm>
            <a:off x="561870" y="1752231"/>
            <a:ext cx="10698946" cy="74084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342900" indent="-342900" algn="l">
              <a:spcBef>
                <a:spcPct val="0"/>
              </a:spcBef>
              <a:buAutoNum type="arabicPeriod" startAt="2"/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Ubuntu" panose="020B0504030602030204" pitchFamily="34" charset="0"/>
              </a:rPr>
              <a:t>Before Merging </a:t>
            </a:r>
            <a:r>
              <a:rPr lang="en-US" sz="1400" b="1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Ubuntu" panose="020B0504030602030204" pitchFamily="34" charset="0"/>
              </a:rPr>
              <a:t>Code:</a:t>
            </a:r>
          </a:p>
          <a:p>
            <a:pPr algn="l">
              <a:spcBef>
                <a:spcPct val="0"/>
              </a:spcBef>
            </a:pPr>
            <a:endParaRPr lang="en-US" sz="1400" b="1" i="0" u="none" strike="noStrike" baseline="0" dirty="0">
              <a:solidFill>
                <a:schemeClr val="accent2"/>
              </a:solidFill>
              <a:latin typeface="Ubuntu" panose="020B0504030602030204" pitchFamily="34" charset="0"/>
            </a:endParaRPr>
          </a:p>
          <a:p>
            <a:pPr algn="l">
              <a:spcBef>
                <a:spcPct val="0"/>
              </a:spcBef>
            </a:pPr>
            <a:r>
              <a:rPr lang="en-US" sz="1400" b="1" dirty="0">
                <a:solidFill>
                  <a:schemeClr val="bg1"/>
                </a:solidFill>
                <a:latin typeface="Segoe Sans"/>
              </a:rPr>
              <a:t>          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Segoe Sans"/>
              </a:rPr>
              <a:t>To ensure that the code meets required standards and is free of common issues.</a:t>
            </a:r>
            <a:endParaRPr lang="en-US" sz="1400" b="1" i="0" u="none" strike="noStrike" baseline="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CFD71E-7C53-B668-E02F-FAC01956EED0}"/>
              </a:ext>
            </a:extLst>
          </p:cNvPr>
          <p:cNvSpPr/>
          <p:nvPr/>
        </p:nvSpPr>
        <p:spPr>
          <a:xfrm>
            <a:off x="412353" y="2702204"/>
            <a:ext cx="11367289" cy="956693"/>
          </a:xfrm>
          <a:prstGeom prst="roundRect">
            <a:avLst>
              <a:gd name="adj" fmla="val 9107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2AA5B-3F96-F061-6705-BED52C2EEE52}"/>
              </a:ext>
            </a:extLst>
          </p:cNvPr>
          <p:cNvSpPr txBox="1"/>
          <p:nvPr/>
        </p:nvSpPr>
        <p:spPr>
          <a:xfrm>
            <a:off x="535586" y="2663262"/>
            <a:ext cx="11120821" cy="95628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   For Continuous Integration :</a:t>
            </a:r>
          </a:p>
          <a:p>
            <a:pPr lvl="1">
              <a:spcBef>
                <a:spcPct val="0"/>
              </a:spcBef>
            </a:pPr>
            <a:r>
              <a:rPr lang="en-US" sz="1400" b="1" i="0" dirty="0">
                <a:solidFill>
                  <a:schemeClr val="bg1"/>
                </a:solidFill>
                <a:effectLst/>
                <a:latin typeface="Segoe Sans"/>
              </a:rPr>
              <a:t>Using automated tools in the </a:t>
            </a:r>
            <a:r>
              <a:rPr lang="en-IN" sz="1400" b="1" i="0" dirty="0">
                <a:solidFill>
                  <a:schemeClr val="bg1"/>
                </a:solidFill>
                <a:effectLst/>
                <a:latin typeface="Segoe Sans"/>
              </a:rPr>
              <a:t>Continuous Integration/Continuous Deployment</a:t>
            </a:r>
            <a:r>
              <a:rPr lang="en-US" sz="1400" b="1" i="0" dirty="0">
                <a:solidFill>
                  <a:schemeClr val="bg1"/>
                </a:solidFill>
                <a:effectLst/>
                <a:latin typeface="Segoe Sans"/>
              </a:rPr>
              <a:t> (CI/CD) process helps review code changes, ensuring high-quality   standards before deployment. This catches errors early, maintains consistency, and improves code reliability.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DAB57B-C0D1-1C46-80A4-C96280AA38B1}"/>
              </a:ext>
            </a:extLst>
          </p:cNvPr>
          <p:cNvSpPr/>
          <p:nvPr/>
        </p:nvSpPr>
        <p:spPr>
          <a:xfrm>
            <a:off x="1975862" y="4664733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1431B0-FA9F-7F85-16B9-AB332162A5E2}"/>
              </a:ext>
            </a:extLst>
          </p:cNvPr>
          <p:cNvSpPr txBox="1"/>
          <p:nvPr/>
        </p:nvSpPr>
        <p:spPr>
          <a:xfrm>
            <a:off x="2322010" y="48299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 dirty="0">
                <a:solidFill>
                  <a:srgbClr val="BCE7FF"/>
                </a:solidFill>
              </a:rPr>
              <a:t>Automated Feedback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28279B-14ED-ED0B-14A7-F754233B1352}"/>
              </a:ext>
            </a:extLst>
          </p:cNvPr>
          <p:cNvSpPr/>
          <p:nvPr/>
        </p:nvSpPr>
        <p:spPr>
          <a:xfrm>
            <a:off x="6747044" y="4664733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45EB70-BD8B-B9FD-32C4-C0F8720BBE11}"/>
              </a:ext>
            </a:extLst>
          </p:cNvPr>
          <p:cNvSpPr txBox="1"/>
          <p:nvPr/>
        </p:nvSpPr>
        <p:spPr>
          <a:xfrm>
            <a:off x="7093192" y="48299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 dirty="0">
                <a:solidFill>
                  <a:srgbClr val="BCE7FF"/>
                </a:solidFill>
              </a:rPr>
              <a:t>Standard Compliance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66FB202-DEC6-7F3A-F090-9ABAFA393A72}"/>
              </a:ext>
            </a:extLst>
          </p:cNvPr>
          <p:cNvSpPr/>
          <p:nvPr/>
        </p:nvSpPr>
        <p:spPr>
          <a:xfrm>
            <a:off x="4332529" y="5689628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12C9A6-B0B7-972B-952D-6B5D406CAB9C}"/>
              </a:ext>
            </a:extLst>
          </p:cNvPr>
          <p:cNvSpPr txBox="1"/>
          <p:nvPr/>
        </p:nvSpPr>
        <p:spPr>
          <a:xfrm>
            <a:off x="4678677" y="58581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 dirty="0">
                <a:solidFill>
                  <a:srgbClr val="BCE7FF"/>
                </a:solidFill>
              </a:rPr>
              <a:t> Error Detection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3ACD6D-5A9E-6641-6F95-830B3246EB70}"/>
              </a:ext>
            </a:extLst>
          </p:cNvPr>
          <p:cNvSpPr txBox="1"/>
          <p:nvPr/>
        </p:nvSpPr>
        <p:spPr>
          <a:xfrm>
            <a:off x="3598606" y="39771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Solutions provided By </a:t>
            </a:r>
            <a:r>
              <a:rPr lang="en-US" sz="1800" b="1" i="0" dirty="0">
                <a:solidFill>
                  <a:schemeClr val="accent1">
                    <a:lumMod val="75000"/>
                  </a:schemeClr>
                </a:solidFill>
                <a:effectLst/>
                <a:latin typeface="Segoe Sans"/>
              </a:rPr>
              <a:t>R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Segoe Sans"/>
              </a:rPr>
              <a:t>eview and Comment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1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C5B1FD-F732-A94E-825F-B2DF86F45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1" y="-21854"/>
            <a:ext cx="12191999" cy="6879853"/>
          </a:xfrm>
          <a:prstGeom prst="rect">
            <a:avLst/>
          </a:prstGeom>
          <a:solidFill>
            <a:srgbClr val="27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 Medium"/>
              <a:ea typeface="+mn-ea"/>
              <a:cs typeface="+mn-cs"/>
            </a:endParaRPr>
          </a:p>
        </p:txBody>
      </p:sp>
      <p:grpSp>
        <p:nvGrpSpPr>
          <p:cNvPr id="6" name="Groupe 1">
            <a:extLst>
              <a:ext uri="{FF2B5EF4-FFF2-40B4-BE49-F238E27FC236}">
                <a16:creationId xmlns:a16="http://schemas.microsoft.com/office/drawing/2014/main" id="{7D121029-30A9-C936-147F-B44C9DB4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6AAB6818-D7E9-283C-8ED7-05EB655E9C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DBC6E8A-6B85-252D-644F-DC79FFA0BF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17" name="object 5">
            <a:extLst>
              <a:ext uri="{FF2B5EF4-FFF2-40B4-BE49-F238E27FC236}">
                <a16:creationId xmlns:a16="http://schemas.microsoft.com/office/drawing/2014/main" id="{088A8A53-950C-3A44-020D-0E4DDF7C7320}"/>
              </a:ext>
            </a:extLst>
          </p:cNvPr>
          <p:cNvSpPr txBox="1">
            <a:spLocks/>
          </p:cNvSpPr>
          <p:nvPr/>
        </p:nvSpPr>
        <p:spPr>
          <a:xfrm>
            <a:off x="964660" y="2530475"/>
            <a:ext cx="10262680" cy="13614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7790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600" b="0" i="0" u="none" strike="noStrike" kern="1200" cap="all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7701" marR="3081" lvl="0" indent="0" algn="l" defTabSz="914400" rtl="0" eaLnBrk="1" fontAlgn="auto" latinLnBrk="0" hangingPunct="1">
              <a:lnSpc>
                <a:spcPct val="79800"/>
              </a:lnSpc>
              <a:spcBef>
                <a:spcPts val="14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600" b="0" i="0" u="none" strike="noStrike" kern="1200" cap="none" spc="-12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 Medium"/>
                <a:ea typeface="+mj-ea"/>
                <a:cs typeface="Ubuntu Light"/>
              </a:rPr>
              <a:t>Thank You</a:t>
            </a:r>
            <a:endParaRPr kumimoji="0" lang="en-GB" sz="9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 Medium"/>
              <a:ea typeface="+mj-ea"/>
              <a:cs typeface="Ubuntu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1951628"/>
      </p:ext>
    </p:extLst>
  </p:cSld>
  <p:clrMapOvr>
    <a:masterClrMapping/>
  </p:clrMapOvr>
</p:sld>
</file>

<file path=ppt/theme/theme1.xml><?xml version="1.0" encoding="utf-8"?>
<a:theme xmlns:a="http://schemas.openxmlformats.org/drawingml/2006/main" name="1_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ptx" id="{CAED51C0-F65D-4BF6-BF3B-AADDC8FCC7A2}" vid="{4D682C99-A36A-4849-ABF2-97DF139CA549}"/>
    </a:ext>
  </a:extLst>
</a:theme>
</file>

<file path=ppt/theme/theme2.xml><?xml version="1.0" encoding="utf-8"?>
<a:theme xmlns:a="http://schemas.openxmlformats.org/drawingml/2006/main" name="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ptx" id="{CAED51C0-F65D-4BF6-BF3B-AADDC8FCC7A2}" vid="{4D682C99-A36A-4849-ABF2-97DF139CA54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4EED2041BB84FAADAEEED37CCA767" ma:contentTypeVersion="22" ma:contentTypeDescription="Create a new document." ma:contentTypeScope="" ma:versionID="954ff4ebb23f7fd76e74602c19edb222">
  <xsd:schema xmlns:xsd="http://www.w3.org/2001/XMLSchema" xmlns:xs="http://www.w3.org/2001/XMLSchema" xmlns:p="http://schemas.microsoft.com/office/2006/metadata/properties" xmlns:ns2="73176d5b-9430-4e66-b33f-41903d64ba6b" xmlns:ns3="75f6b4fc-a96d-4771-97b5-b90f5c6cd162" targetNamespace="http://schemas.microsoft.com/office/2006/metadata/properties" ma:root="true" ma:fieldsID="2a6d7072647e6ca964d284378c95fa8e" ns2:_="" ns3:_="">
    <xsd:import namespace="73176d5b-9430-4e66-b33f-41903d64ba6b"/>
    <xsd:import namespace="75f6b4fc-a96d-4771-97b5-b90f5c6cd1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Location" minOccurs="0"/>
                <xsd:element ref="ns2:AddedtoCampusDate" minOccurs="0"/>
                <xsd:element ref="ns2:AssociatedLearning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76d5b-9430-4e66-b33f-41903d64ba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ocation" ma:index="26" nillable="true" ma:displayName="Location " ma:format="Dropdown" ma:internalName="Location">
      <xsd:simpleType>
        <xsd:restriction base="dms:Text">
          <xsd:maxLength value="255"/>
        </xsd:restriction>
      </xsd:simpleType>
    </xsd:element>
    <xsd:element name="AddedtoCampusDate" ma:index="27" nillable="true" ma:displayName="Added to Degreed Date" ma:format="Dropdown" ma:internalName="AddedtoCampusDate">
      <xsd:simpleType>
        <xsd:restriction base="dms:Text">
          <xsd:maxLength value="255"/>
        </xsd:restriction>
      </xsd:simpleType>
    </xsd:element>
    <xsd:element name="AssociatedLearning" ma:index="28" nillable="true" ma:displayName="Associated Learning " ma:format="Dropdown" ma:internalName="AssociatedLearning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6b4fc-a96d-4771-97b5-b90f5c6cd1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1938d20-e235-48fa-8a74-77124f4bdd41}" ma:internalName="TaxCatchAll" ma:showField="CatchAllData" ma:web="75f6b4fc-a96d-4771-97b5-b90f5c6cd1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176d5b-9430-4e66-b33f-41903d64ba6b">
      <Terms xmlns="http://schemas.microsoft.com/office/infopath/2007/PartnerControls"/>
    </lcf76f155ced4ddcb4097134ff3c332f>
    <TaxCatchAll xmlns="75f6b4fc-a96d-4771-97b5-b90f5c6cd162" xsi:nil="true"/>
    <Location xmlns="73176d5b-9430-4e66-b33f-41903d64ba6b" xsi:nil="true"/>
    <AssociatedLearning xmlns="73176d5b-9430-4e66-b33f-41903d64ba6b" xsi:nil="true"/>
    <AddedtoCampusDate xmlns="73176d5b-9430-4e66-b33f-41903d64ba6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C02718-A993-4184-A41D-5319FFF492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176d5b-9430-4e66-b33f-41903d64ba6b"/>
    <ds:schemaRef ds:uri="75f6b4fc-a96d-4771-97b5-b90f5c6cd1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5A860F-AA42-4543-B3FE-9796F758843F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75f6b4fc-a96d-4771-97b5-b90f5c6cd162"/>
    <ds:schemaRef ds:uri="73176d5b-9430-4e66-b33f-41903d64ba6b"/>
  </ds:schemaRefs>
</ds:datastoreItem>
</file>

<file path=customXml/itemProps3.xml><?xml version="1.0" encoding="utf-8"?>
<ds:datastoreItem xmlns:ds="http://schemas.openxmlformats.org/officeDocument/2006/customXml" ds:itemID="{BA4AB5EE-51F2-4B2D-90C7-AD659AEBC4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1204</TotalTime>
  <Words>692</Words>
  <Application>Microsoft Office PowerPoint</Application>
  <PresentationFormat>Widescreen</PresentationFormat>
  <Paragraphs>81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-apple-system</vt:lpstr>
      <vt:lpstr>Aptos</vt:lpstr>
      <vt:lpstr>Arial</vt:lpstr>
      <vt:lpstr>Calibri</vt:lpstr>
      <vt:lpstr>Segoe Sans</vt:lpstr>
      <vt:lpstr>Ubuntu</vt:lpstr>
      <vt:lpstr>Ubuntu Light</vt:lpstr>
      <vt:lpstr>Ubuntu Medium</vt:lpstr>
      <vt:lpstr>Verdana</vt:lpstr>
      <vt:lpstr>Wingdings</vt:lpstr>
      <vt:lpstr>1_Capgemini_2024</vt:lpstr>
      <vt:lpstr>Capgemini_2024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Sumit</dc:creator>
  <cp:lastModifiedBy>Yadav, Yash Raj</cp:lastModifiedBy>
  <cp:revision>59</cp:revision>
  <dcterms:created xsi:type="dcterms:W3CDTF">2024-12-11T07:14:28Z</dcterms:created>
  <dcterms:modified xsi:type="dcterms:W3CDTF">2025-04-30T14:28:21Z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0x010100C3F4EED2041BB84FAADAEEED37CCA767</vt:lpwstr>
  </property>
  <property fmtid="{D5CDD505-2E9C-101B-9397-08002B2CF9AE}" pid="3" name="MediaServiceImageTags">
    <vt:lpwstr/>
  </property>
</Properties>
</file>